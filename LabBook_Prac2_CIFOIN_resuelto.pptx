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8"/>
  </p:notesMasterIdLst>
  <p:handoutMasterIdLst>
    <p:handoutMasterId r:id="rId29"/>
  </p:handoutMasterIdLst>
  <p:sldIdLst>
    <p:sldId id="256" r:id="rId5"/>
    <p:sldId id="289" r:id="rId6"/>
    <p:sldId id="295" r:id="rId7"/>
    <p:sldId id="304" r:id="rId8"/>
    <p:sldId id="305" r:id="rId9"/>
    <p:sldId id="306" r:id="rId10"/>
    <p:sldId id="302" r:id="rId11"/>
    <p:sldId id="303" r:id="rId12"/>
    <p:sldId id="291" r:id="rId13"/>
    <p:sldId id="296" r:id="rId14"/>
    <p:sldId id="293" r:id="rId15"/>
    <p:sldId id="307" r:id="rId16"/>
    <p:sldId id="309" r:id="rId17"/>
    <p:sldId id="308" r:id="rId18"/>
    <p:sldId id="294" r:id="rId19"/>
    <p:sldId id="299" r:id="rId20"/>
    <p:sldId id="300" r:id="rId21"/>
    <p:sldId id="301" r:id="rId22"/>
    <p:sldId id="290" r:id="rId23"/>
    <p:sldId id="297" r:id="rId24"/>
    <p:sldId id="292" r:id="rId25"/>
    <p:sldId id="298" r:id="rId26"/>
    <p:sldId id="288" r:id="rId27"/>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137647-CBA1-4B63-9618-D69BD7E0CE1F}" v="911" dt="2026-05-03T19:50:55.13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03/05/2026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03/05/2026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23B86-D15F-9CD8-C5EA-3EAAD8BACCF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C73881A-26A5-ECF9-C6F2-3DEFA77AEFC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7AFC79-4973-3930-959B-AEF8810CFE6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8345D0F3-6273-0338-FCDA-175B73D7C9E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3433115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3.sv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err="1">
                <a:latin typeface="Lucida Sans"/>
                <a:cs typeface="Lucida Sans"/>
              </a:rPr>
              <a:t>Lab</a:t>
            </a:r>
            <a:r>
              <a:rPr lang="es-ES" sz="3200" b="1">
                <a:latin typeface="Lucida Sans"/>
                <a:cs typeface="Lucida Sans"/>
              </a:rPr>
              <a:t> Book 2.0. </a:t>
            </a:r>
            <a:r>
              <a:rPr lang="es-ES" sz="3200" b="1" err="1">
                <a:latin typeface="Lucida Sans"/>
                <a:cs typeface="Lucida Sans"/>
              </a:rPr>
              <a:t>Couplers</a:t>
            </a:r>
            <a:endParaRPr sz="320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err="1">
                <a:latin typeface="Arial"/>
                <a:cs typeface="Arial"/>
              </a:rPr>
              <a:t>Student</a:t>
            </a:r>
            <a:r>
              <a:rPr lang="es-ES" spc="165">
                <a:latin typeface="Arial"/>
                <a:cs typeface="Arial"/>
              </a:rPr>
              <a:t>: Ángel González de Amo y Adrián García Giner</a:t>
            </a:r>
            <a:endParaRPr sz="180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err="1">
                <a:latin typeface="+mj-lt"/>
                <a:cs typeface="Lucida Sans"/>
              </a:rPr>
              <a:t>Instructions</a:t>
            </a:r>
            <a:br>
              <a:rPr lang="es-ES" sz="2400" spc="-5">
                <a:latin typeface="+mj-lt"/>
                <a:cs typeface="Lucida Sans"/>
              </a:rPr>
            </a:br>
            <a:r>
              <a:rPr lang="es-ES" b="0" spc="-5">
                <a:latin typeface="+mj-lt"/>
                <a:cs typeface="Lucida Sans"/>
              </a:rPr>
              <a:t>General</a:t>
            </a:r>
            <a:endParaRPr sz="2400" b="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a:solidFill>
                  <a:sysClr val="windowText" lastClr="000000"/>
                </a:solidFill>
                <a:sym typeface="Wingdings" pitchFamily="2" charset="2"/>
              </a:rPr>
              <a:t>Fork the repo: https://github.com/cccanvas-upv/cifoin-lab2.git</a:t>
            </a:r>
          </a:p>
          <a:p>
            <a:pPr marL="800100" lvl="1" indent="-342900" algn="just">
              <a:buFont typeface="Arial" panose="020B0604020202020204" pitchFamily="34" charset="0"/>
              <a:buChar char="•"/>
            </a:pPr>
            <a:r>
              <a:rPr lang="en-US" kern="0">
                <a:solidFill>
                  <a:sysClr val="windowText" lastClr="000000"/>
                </a:solidFill>
                <a:sym typeface="Wingdings" pitchFamily="2" charset="2"/>
              </a:rPr>
              <a:t>Clone the repo using </a:t>
            </a:r>
            <a:r>
              <a:rPr lang="en-US" kern="0" err="1">
                <a:solidFill>
                  <a:sysClr val="windowText" lastClr="000000"/>
                </a:solidFill>
                <a:sym typeface="Wingdings" pitchFamily="2" charset="2"/>
              </a:rPr>
              <a:t>VSCode</a:t>
            </a:r>
            <a:endParaRPr lang="en-US" kern="0">
              <a:solidFill>
                <a:sysClr val="windowText" lastClr="000000"/>
              </a:solidFill>
              <a:sym typeface="Wingdings" pitchFamily="2" charset="2"/>
            </a:endParaRPr>
          </a:p>
          <a:p>
            <a:pPr marL="800100" lvl="1" indent="-342900" algn="just">
              <a:buFont typeface="Arial" panose="020B0604020202020204" pitchFamily="34" charset="0"/>
              <a:buChar char="•"/>
            </a:pPr>
            <a:r>
              <a:rPr lang="en-US" kern="0">
                <a:solidFill>
                  <a:sysClr val="windowText" lastClr="000000"/>
                </a:solidFill>
                <a:sym typeface="Wingdings" pitchFamily="2" charset="2"/>
              </a:rPr>
              <a:t>Terminal + ‘</a:t>
            </a:r>
            <a:r>
              <a:rPr lang="en-US" kern="0" err="1">
                <a:solidFill>
                  <a:sysClr val="windowText" lastClr="000000"/>
                </a:solidFill>
                <a:sym typeface="Wingdings" pitchFamily="2" charset="2"/>
              </a:rPr>
              <a:t>uv</a:t>
            </a:r>
            <a:r>
              <a:rPr lang="en-US" kern="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a:solidFill>
                  <a:sysClr val="windowText" lastClr="000000"/>
                </a:solidFill>
              </a:rPr>
              <a:t>Run the </a:t>
            </a:r>
            <a:r>
              <a:rPr lang="en-US" kern="0" err="1">
                <a:solidFill>
                  <a:sysClr val="windowText" lastClr="000000"/>
                </a:solidFill>
              </a:rPr>
              <a:t>Jupyter</a:t>
            </a:r>
            <a:r>
              <a:rPr lang="en-US" kern="0">
                <a:solidFill>
                  <a:sysClr val="windowText" lastClr="000000"/>
                </a:solidFill>
              </a:rPr>
              <a:t> Notebook: </a:t>
            </a:r>
          </a:p>
          <a:p>
            <a:pPr marL="800100" lvl="1" indent="-342900" algn="just">
              <a:buFont typeface="Arial" panose="020B0604020202020204" pitchFamily="34" charset="0"/>
              <a:buChar char="•"/>
            </a:pPr>
            <a:r>
              <a:rPr lang="en-US" kern="0" err="1">
                <a:solidFill>
                  <a:sysClr val="windowText" lastClr="000000"/>
                </a:solidFill>
              </a:rPr>
              <a:t>COUPLERS_Student.ipynb</a:t>
            </a:r>
            <a:r>
              <a:rPr lang="en-US" kern="0">
                <a:solidFill>
                  <a:sysClr val="windowText" lastClr="000000"/>
                </a:solidFill>
              </a:rPr>
              <a:t> </a:t>
            </a:r>
          </a:p>
          <a:p>
            <a:pPr algn="just"/>
            <a:endParaRPr lang="en-US" b="1" i="1"/>
          </a:p>
          <a:p>
            <a:pPr algn="just"/>
            <a:r>
              <a:rPr lang="en-US" b="1" i="1"/>
              <a:t>Cross-Sections </a:t>
            </a:r>
            <a:r>
              <a:rPr lang="en-US" i="1"/>
              <a:t>to be studied:</a:t>
            </a:r>
            <a:endParaRPr lang="en-US" b="1" i="1"/>
          </a:p>
          <a:p>
            <a:pPr algn="just"/>
            <a:endParaRPr lang="en-US" sz="2000" b="1" i="1"/>
          </a:p>
          <a:p>
            <a:pPr algn="just"/>
            <a:endParaRPr lang="en-US" sz="2000" kern="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a:latin typeface="Calibri"/>
                <a:cs typeface="Calibri"/>
              </a:rPr>
              <a:t>w</a:t>
            </a:r>
            <a:r>
              <a:rPr sz="1400" spc="-65">
                <a:latin typeface="Calibri"/>
                <a:cs typeface="Calibri"/>
              </a:rPr>
              <a:t> </a:t>
            </a:r>
            <a:r>
              <a:rPr sz="1400" spc="-5">
                <a:latin typeface="Calibri"/>
                <a:cs typeface="Calibri"/>
              </a:rPr>
              <a:t>(width)</a:t>
            </a:r>
            <a:endParaRPr sz="140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lang="es-ES" sz="1600" b="1" spc="-10">
                <a:latin typeface="Calibri"/>
                <a:cs typeface="Calibri"/>
              </a:rPr>
              <a:t>MMI </a:t>
            </a:r>
            <a:r>
              <a:rPr lang="es-ES" sz="1600" b="1" spc="-10" err="1">
                <a:latin typeface="Calibri"/>
                <a:cs typeface="Calibri"/>
              </a:rPr>
              <a:t>Body</a:t>
            </a:r>
            <a:endParaRPr sz="160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a:latin typeface="Calibri"/>
                <a:cs typeface="Calibri"/>
              </a:rPr>
              <a:t>Cladding</a:t>
            </a:r>
            <a:endParaRPr sz="160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a:t>Multimode Interference (MMI) </a:t>
            </a:r>
            <a:r>
              <a:rPr lang="en-US"/>
              <a:t>coupler</a:t>
            </a:r>
            <a:r>
              <a:rPr lang="en-US" b="1"/>
              <a:t> </a:t>
            </a:r>
            <a:endParaRPr lang="en-US"/>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a:t>Directional </a:t>
            </a:r>
            <a:r>
              <a:rPr lang="en-US"/>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a:latin typeface="Times New Roman"/>
              <a:cs typeface="Times New Roman"/>
            </a:endParaRPr>
          </a:p>
          <a:p>
            <a:pPr marL="18415" algn="ctr">
              <a:lnSpc>
                <a:spcPct val="100000"/>
              </a:lnSpc>
            </a:pPr>
            <a:r>
              <a:rPr sz="1600" b="1" spc="-10">
                <a:latin typeface="Calibri"/>
                <a:cs typeface="Calibri"/>
              </a:rPr>
              <a:t>Core</a:t>
            </a:r>
            <a:endParaRPr sz="160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a:latin typeface="Calibri"/>
                <a:cs typeface="Calibri"/>
              </a:rPr>
              <a:t>g</a:t>
            </a:r>
            <a:endParaRPr sz="1400">
              <a:latin typeface="Calibri"/>
              <a:cs typeface="Calibri"/>
            </a:endParaRPr>
          </a:p>
          <a:p>
            <a:pPr marR="5080" algn="ctr">
              <a:lnSpc>
                <a:spcPct val="100000"/>
              </a:lnSpc>
              <a:spcBef>
                <a:spcPts val="5"/>
              </a:spcBef>
            </a:pPr>
            <a:r>
              <a:rPr sz="1400" spc="-10">
                <a:latin typeface="Calibri"/>
                <a:cs typeface="Calibri"/>
              </a:rPr>
              <a:t>(</a:t>
            </a:r>
            <a:r>
              <a:rPr lang="es-ES" sz="1400" spc="-10">
                <a:latin typeface="Calibri"/>
                <a:cs typeface="Calibri"/>
              </a:rPr>
              <a:t>gap</a:t>
            </a:r>
            <a:r>
              <a:rPr sz="140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a:latin typeface="Calibri"/>
                <a:cs typeface="Calibri"/>
              </a:rPr>
              <a:t>h</a:t>
            </a:r>
          </a:p>
          <a:p>
            <a:pPr marR="5080" algn="ctr">
              <a:lnSpc>
                <a:spcPct val="100000"/>
              </a:lnSpc>
              <a:spcBef>
                <a:spcPts val="5"/>
              </a:spcBef>
            </a:pPr>
            <a:r>
              <a:rPr sz="1400" spc="-10">
                <a:latin typeface="Calibri"/>
                <a:cs typeface="Calibri"/>
              </a:rPr>
              <a:t>(h</a:t>
            </a:r>
            <a:r>
              <a:rPr sz="1400">
                <a:latin typeface="Calibri"/>
                <a:cs typeface="Calibri"/>
              </a:rPr>
              <a:t>eig</a:t>
            </a:r>
            <a:r>
              <a:rPr sz="1400" spc="-25">
                <a:latin typeface="Calibri"/>
                <a:cs typeface="Calibri"/>
              </a:rPr>
              <a:t>h</a:t>
            </a:r>
            <a:r>
              <a:rPr sz="1400" spc="-5">
                <a:latin typeface="Calibri"/>
                <a:cs typeface="Calibri"/>
              </a:rPr>
              <a:t>t</a:t>
            </a:r>
            <a:r>
              <a:rPr sz="140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#1 – Directional coupler cross-section in </a:t>
            </a:r>
            <a:r>
              <a:rPr lang="en-US" sz="2500" err="1"/>
              <a:t>GDSFactory</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AA9E72FF-B948-6B7A-8909-97C6BE95D6FB}"/>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beating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#1: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a:p>
              <a:p>
                <a:pPr algn="just"/>
                <a:endParaRPr lang="en-US" sz="2000" kern="0">
                  <a:solidFill>
                    <a:sysClr val="windowText" lastClr="000000"/>
                  </a:solidFill>
                </a:endParaRPr>
              </a:p>
            </p:txBody>
          </p:sp>
        </mc:Choice>
        <mc:Fallback xmlns="">
          <p:sp>
            <p:nvSpPr>
              <p:cNvPr id="4" name="Marcador de texto 2">
                <a:extLst>
                  <a:ext uri="{FF2B5EF4-FFF2-40B4-BE49-F238E27FC236}">
                    <a16:creationId xmlns:a16="http://schemas.microsoft.com/office/drawing/2014/main" id="{AA9E72FF-B948-6B7A-8909-97C6BE95D6FB}"/>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n-US">
                    <a:noFill/>
                  </a:rPr>
                  <a:t> </a:t>
                </a:r>
              </a:p>
            </p:txBody>
          </p:sp>
        </mc:Fallback>
      </mc:AlternateContent>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 -&gt; RESULTADOS EN LA SIGUIENTE DIAPOSITIVA</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3050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608C27-845A-9A08-A1D8-0D8B080335A8}"/>
              </a:ext>
            </a:extLst>
          </p:cNvPr>
          <p:cNvSpPr>
            <a:spLocks noGrp="1"/>
          </p:cNvSpPr>
          <p:nvPr>
            <p:ph type="title"/>
          </p:nvPr>
        </p:nvSpPr>
        <p:spPr/>
        <p:txBody>
          <a:bodyPr/>
          <a:lstStyle/>
          <a:p>
            <a:r>
              <a:rPr lang="es-ES"/>
              <a:t>I. Resultados ejercicio 1</a:t>
            </a:r>
          </a:p>
        </p:txBody>
      </p:sp>
      <p:sp>
        <p:nvSpPr>
          <p:cNvPr id="3" name="Marcador de texto 2">
            <a:extLst>
              <a:ext uri="{FF2B5EF4-FFF2-40B4-BE49-F238E27FC236}">
                <a16:creationId xmlns:a16="http://schemas.microsoft.com/office/drawing/2014/main" id="{97A75AA9-ADD8-474E-DFBA-FF6F825947A6}"/>
              </a:ext>
            </a:extLst>
          </p:cNvPr>
          <p:cNvSpPr>
            <a:spLocks noGrp="1"/>
          </p:cNvSpPr>
          <p:nvPr>
            <p:ph type="body" idx="1"/>
          </p:nvPr>
        </p:nvSpPr>
        <p:spPr>
          <a:xfrm>
            <a:off x="609600" y="914400"/>
            <a:ext cx="10972800" cy="5293757"/>
          </a:xfrm>
        </p:spPr>
        <p:txBody>
          <a:bodyPr wrap="square" lIns="0" tIns="0" rIns="0" bIns="0" anchor="t">
            <a:spAutoFit/>
          </a:bodyPr>
          <a:lstStyle/>
          <a:p>
            <a:r>
              <a:rPr lang="es-ES" b="1"/>
              <a:t>Índices de refracción efectivos: </a:t>
            </a:r>
          </a:p>
          <a:p>
            <a:pPr algn="just"/>
            <a:r>
              <a:rPr lang="es-ES" sz="1600"/>
              <a:t>Determinan la velocidad de propagación de la onda en el DC. Solo nos interesa la parte real del número. En nuestra guía, los índices de refracción van entre 2 (el índice de refracción del núcleo -&gt; n1) y 1.45 (el índice de refracción de la cubierta -&gt; n2), por lo que el índice efectivo debe estar entre estos dos (n1 &lt; n &lt; n2). </a:t>
            </a:r>
          </a:p>
          <a:p>
            <a:pPr algn="just"/>
            <a:endParaRPr lang="es-ES" sz="1600" b="1"/>
          </a:p>
          <a:p>
            <a:pPr marL="285750" indent="-285750" algn="just">
              <a:buFont typeface="Arial" panose="020B0604020202020204" pitchFamily="34" charset="0"/>
              <a:buChar char="•"/>
            </a:pPr>
            <a:r>
              <a:rPr lang="es-ES" sz="1600">
                <a:ea typeface="+mn-lt"/>
                <a:cs typeface="+mn-lt"/>
              </a:rPr>
              <a:t>Modo de orden 0: </a:t>
            </a:r>
            <a:r>
              <a:rPr lang="es-ES" sz="1600" err="1">
                <a:ea typeface="+mn-lt"/>
                <a:cs typeface="+mn-lt"/>
              </a:rPr>
              <a:t>neff</a:t>
            </a:r>
            <a:r>
              <a:rPr lang="es-ES" sz="1600">
                <a:ea typeface="+mn-lt"/>
                <a:cs typeface="+mn-lt"/>
              </a:rPr>
              <a:t> = [</a:t>
            </a:r>
            <a:r>
              <a:rPr lang="es-ES" sz="1600"/>
              <a:t>1.60942484+1.02849974e-04j</a:t>
            </a:r>
            <a:r>
              <a:rPr lang="es-ES" sz="1600">
                <a:ea typeface="+mn-lt"/>
                <a:cs typeface="+mn-lt"/>
              </a:rPr>
              <a:t>] -&gt; donde n ≈ 1.609. Lo que implica que la onda viaja bastante confinada en el núcleo de la guía.</a:t>
            </a:r>
          </a:p>
          <a:p>
            <a:pPr marL="285750" indent="-285750" algn="just">
              <a:buFont typeface="Arial" panose="020B0604020202020204" pitchFamily="34" charset="0"/>
              <a:buChar char="•"/>
            </a:pPr>
            <a:r>
              <a:rPr lang="es-ES" sz="1600">
                <a:ea typeface="+mn-lt"/>
                <a:cs typeface="+mn-lt"/>
              </a:rPr>
              <a:t>Modo de orden 1: [</a:t>
            </a:r>
            <a:r>
              <a:rPr lang="es-ES" sz="1600"/>
              <a:t>1.60116589+9.83178135e-05j</a:t>
            </a:r>
            <a:r>
              <a:rPr lang="es-ES" sz="1600">
                <a:ea typeface="+mn-lt"/>
                <a:cs typeface="+mn-lt"/>
              </a:rPr>
              <a:t>]</a:t>
            </a:r>
          </a:p>
          <a:p>
            <a:pPr marL="285750" indent="-285750" algn="just">
              <a:buFont typeface="Arial" panose="020B0604020202020204" pitchFamily="34" charset="0"/>
              <a:buChar char="•"/>
            </a:pPr>
            <a:r>
              <a:rPr lang="es-ES" sz="1600">
                <a:ea typeface="+mn-lt"/>
                <a:cs typeface="+mn-lt"/>
              </a:rPr>
              <a:t>Modo de orden 2: [</a:t>
            </a:r>
            <a:r>
              <a:rPr lang="es-ES" sz="1600"/>
              <a:t>1.53540293+1.77367472e-04j</a:t>
            </a:r>
            <a:r>
              <a:rPr lang="es-ES" sz="1600">
                <a:ea typeface="+mn-lt"/>
                <a:cs typeface="+mn-lt"/>
              </a:rPr>
              <a:t>] </a:t>
            </a:r>
          </a:p>
          <a:p>
            <a:pPr marL="285750" indent="-285750" algn="just">
              <a:buFont typeface="Arial" panose="020B0604020202020204" pitchFamily="34" charset="0"/>
              <a:buChar char="•"/>
            </a:pPr>
            <a:r>
              <a:rPr lang="es-ES" sz="1600">
                <a:ea typeface="+mn-lt"/>
                <a:cs typeface="+mn-lt"/>
              </a:rPr>
              <a:t>Modo de orden 3: [</a:t>
            </a:r>
            <a:r>
              <a:rPr lang="es-ES" sz="1600"/>
              <a:t>1.52057329+1.77190584e-04j</a:t>
            </a:r>
            <a:r>
              <a:rPr lang="es-ES" sz="1600">
                <a:ea typeface="+mn-lt"/>
                <a:cs typeface="+mn-lt"/>
              </a:rPr>
              <a:t>] </a:t>
            </a:r>
          </a:p>
          <a:p>
            <a:pPr marL="285750" indent="-285750" algn="just">
              <a:buFont typeface="Arial" panose="020B0604020202020204" pitchFamily="34" charset="0"/>
              <a:buChar char="•"/>
            </a:pPr>
            <a:r>
              <a:rPr lang="es-ES" sz="1600">
                <a:ea typeface="+mn-lt"/>
                <a:cs typeface="+mn-lt"/>
              </a:rPr>
              <a:t>-&gt; Se observa que a medida que aumenta el orden del modo, disminuye Re(neff) lo que implica una clara disminución del confinamiento de la onda en los núcleos del DC. </a:t>
            </a:r>
          </a:p>
          <a:p>
            <a:pPr marL="285750" indent="-285750">
              <a:buFont typeface="Arial" panose="020B0604020202020204" pitchFamily="34" charset="0"/>
              <a:buChar char="•"/>
            </a:pPr>
            <a:endParaRPr lang="es-ES" sz="1600">
              <a:ea typeface="+mn-lt"/>
              <a:cs typeface="+mn-lt"/>
            </a:endParaRPr>
          </a:p>
          <a:p>
            <a:r>
              <a:rPr lang="es-ES" b="1">
                <a:ea typeface="+mn-lt"/>
                <a:cs typeface="+mn-lt"/>
              </a:rPr>
              <a:t>Identificación de modos </a:t>
            </a:r>
            <a:r>
              <a:rPr lang="es-ES" b="1" err="1">
                <a:ea typeface="+mn-lt"/>
                <a:cs typeface="+mn-lt"/>
              </a:rPr>
              <a:t>quasi</a:t>
            </a:r>
            <a:r>
              <a:rPr lang="es-ES" b="1">
                <a:ea typeface="+mn-lt"/>
                <a:cs typeface="+mn-lt"/>
              </a:rPr>
              <a:t> TEM y </a:t>
            </a:r>
            <a:r>
              <a:rPr lang="es-ES" b="1" err="1">
                <a:ea typeface="+mn-lt"/>
                <a:cs typeface="+mn-lt"/>
              </a:rPr>
              <a:t>quasi</a:t>
            </a:r>
            <a:r>
              <a:rPr lang="es-ES" b="1">
                <a:ea typeface="+mn-lt"/>
                <a:cs typeface="+mn-lt"/>
              </a:rPr>
              <a:t> TM: </a:t>
            </a:r>
          </a:p>
          <a:p>
            <a:r>
              <a:rPr lang="es-ES" sz="1600"/>
              <a:t>Con la función: </a:t>
            </a:r>
            <a:r>
              <a:rPr lang="es-ES" sz="1600" err="1"/>
              <a:t>deep_waveguide.fraction_te</a:t>
            </a:r>
            <a:r>
              <a:rPr lang="es-ES" sz="1600"/>
              <a:t> obtenemos: </a:t>
            </a:r>
            <a:r>
              <a:rPr lang="en-US" sz="1600"/>
              <a:t>array([0.994898 , 0.99527537, 0.00888064, 0.01130183])</a:t>
            </a:r>
          </a:p>
          <a:p>
            <a:endParaRPr lang="en-US" sz="1600"/>
          </a:p>
          <a:p>
            <a:r>
              <a:rPr lang="en-US" sz="1600"/>
              <a:t>Si </a:t>
            </a:r>
            <a:r>
              <a:rPr lang="en-US" sz="1600" err="1"/>
              <a:t>está</a:t>
            </a:r>
            <a:r>
              <a:rPr lang="en-US" sz="1600"/>
              <a:t> </a:t>
            </a:r>
            <a:r>
              <a:rPr lang="en-US" sz="1600" err="1"/>
              <a:t>cercano</a:t>
            </a:r>
            <a:r>
              <a:rPr lang="en-US" sz="1600"/>
              <a:t>  a 1 es modo quasi TEM y </a:t>
            </a:r>
            <a:r>
              <a:rPr lang="en-US" sz="1600" err="1"/>
              <a:t>si</a:t>
            </a:r>
            <a:r>
              <a:rPr lang="en-US" sz="1600"/>
              <a:t> </a:t>
            </a:r>
            <a:r>
              <a:rPr lang="en-US" sz="1600" err="1"/>
              <a:t>está</a:t>
            </a:r>
            <a:r>
              <a:rPr lang="en-US" sz="1600"/>
              <a:t> </a:t>
            </a:r>
            <a:r>
              <a:rPr lang="en-US" sz="1600" err="1"/>
              <a:t>cercano</a:t>
            </a:r>
            <a:r>
              <a:rPr lang="en-US" sz="1600"/>
              <a:t> a 0 es quasi TM. El primero y el segundo son quasi TEM porque la fracción de TE da cercana a 1 y el tercero y cuarto son quasi TM porque la fracción de TE es prácticamente 0.</a:t>
            </a:r>
            <a:endParaRPr lang="es-ES" sz="1600"/>
          </a:p>
          <a:p>
            <a:endParaRPr lang="es-ES" b="1">
              <a:ea typeface="+mn-lt"/>
              <a:cs typeface="+mn-lt"/>
            </a:endParaRPr>
          </a:p>
          <a:p>
            <a:pPr algn="just"/>
            <a:endParaRPr lang="es-ES" sz="1600"/>
          </a:p>
          <a:p>
            <a:endParaRPr lang="es-ES"/>
          </a:p>
        </p:txBody>
      </p:sp>
      <p:sp>
        <p:nvSpPr>
          <p:cNvPr id="4" name="Marcador de pie de página 3">
            <a:extLst>
              <a:ext uri="{FF2B5EF4-FFF2-40B4-BE49-F238E27FC236}">
                <a16:creationId xmlns:a16="http://schemas.microsoft.com/office/drawing/2014/main" id="{1638125A-EDCE-2B00-77F4-F01E3484A53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0A57DE23-0298-A4E1-BCC5-D9347FADF8BE}"/>
              </a:ext>
            </a:extLst>
          </p:cNvPr>
          <p:cNvSpPr>
            <a:spLocks noGrp="1"/>
          </p:cNvSpPr>
          <p:nvPr>
            <p:ph type="sldNum" sz="quarter" idx="7"/>
          </p:nvPr>
        </p:nvSpPr>
        <p:spPr/>
        <p:txBody>
          <a:bodyPr/>
          <a:lstStyle/>
          <a:p>
            <a:fld id="{B6F15528-21DE-4FAA-801E-634DDDAF4B2B}" type="slidenum">
              <a:rPr lang="es-ES" smtClean="0"/>
              <a:t>5</a:t>
            </a:fld>
            <a:endParaRPr lang="es-ES"/>
          </a:p>
        </p:txBody>
      </p:sp>
    </p:spTree>
    <p:extLst>
      <p:ext uri="{BB962C8B-B14F-4D97-AF65-F5344CB8AC3E}">
        <p14:creationId xmlns:p14="http://schemas.microsoft.com/office/powerpoint/2010/main" val="3139747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A5735F70-F94A-8D7B-1AD7-A2A0EFFCEEA1}"/>
              </a:ext>
            </a:extLst>
          </p:cNvPr>
          <p:cNvPicPr>
            <a:picLocks noChangeAspect="1"/>
          </p:cNvPicPr>
          <p:nvPr/>
        </p:nvPicPr>
        <p:blipFill>
          <a:blip r:embed="rId2"/>
          <a:stretch>
            <a:fillRect/>
          </a:stretch>
        </p:blipFill>
        <p:spPr>
          <a:xfrm>
            <a:off x="4102900" y="3697678"/>
            <a:ext cx="3588305" cy="2408673"/>
          </a:xfrm>
          <a:prstGeom prst="rect">
            <a:avLst/>
          </a:prstGeom>
        </p:spPr>
      </p:pic>
      <p:pic>
        <p:nvPicPr>
          <p:cNvPr id="10" name="Imagen 9">
            <a:extLst>
              <a:ext uri="{FF2B5EF4-FFF2-40B4-BE49-F238E27FC236}">
                <a16:creationId xmlns:a16="http://schemas.microsoft.com/office/drawing/2014/main" id="{4F0A5E82-BEFC-7DF6-632C-016E944317D1}"/>
              </a:ext>
            </a:extLst>
          </p:cNvPr>
          <p:cNvPicPr>
            <a:picLocks noChangeAspect="1"/>
          </p:cNvPicPr>
          <p:nvPr/>
        </p:nvPicPr>
        <p:blipFill>
          <a:blip r:embed="rId3"/>
          <a:stretch>
            <a:fillRect/>
          </a:stretch>
        </p:blipFill>
        <p:spPr>
          <a:xfrm>
            <a:off x="441657" y="3697678"/>
            <a:ext cx="3603722" cy="2408673"/>
          </a:xfrm>
          <a:prstGeom prst="rect">
            <a:avLst/>
          </a:prstGeom>
        </p:spPr>
      </p:pic>
      <p:pic>
        <p:nvPicPr>
          <p:cNvPr id="8" name="Imagen 7">
            <a:extLst>
              <a:ext uri="{FF2B5EF4-FFF2-40B4-BE49-F238E27FC236}">
                <a16:creationId xmlns:a16="http://schemas.microsoft.com/office/drawing/2014/main" id="{5F40503D-A434-312C-65FA-0162884FBFBA}"/>
              </a:ext>
            </a:extLst>
          </p:cNvPr>
          <p:cNvPicPr>
            <a:picLocks noChangeAspect="1"/>
          </p:cNvPicPr>
          <p:nvPr/>
        </p:nvPicPr>
        <p:blipFill>
          <a:blip r:embed="rId4"/>
          <a:stretch>
            <a:fillRect/>
          </a:stretch>
        </p:blipFill>
        <p:spPr>
          <a:xfrm>
            <a:off x="4102900" y="944087"/>
            <a:ext cx="3597530" cy="2408673"/>
          </a:xfrm>
          <a:prstGeom prst="rect">
            <a:avLst/>
          </a:prstGeom>
        </p:spPr>
      </p:pic>
      <p:pic>
        <p:nvPicPr>
          <p:cNvPr id="6" name="Imagen 5">
            <a:extLst>
              <a:ext uri="{FF2B5EF4-FFF2-40B4-BE49-F238E27FC236}">
                <a16:creationId xmlns:a16="http://schemas.microsoft.com/office/drawing/2014/main" id="{C13464A6-FA9A-BE75-7AE2-CFA709F9B43D}"/>
              </a:ext>
            </a:extLst>
          </p:cNvPr>
          <p:cNvPicPr>
            <a:picLocks noChangeAspect="1"/>
          </p:cNvPicPr>
          <p:nvPr/>
        </p:nvPicPr>
        <p:blipFill>
          <a:blip r:embed="rId5"/>
          <a:stretch>
            <a:fillRect/>
          </a:stretch>
        </p:blipFill>
        <p:spPr>
          <a:xfrm>
            <a:off x="441657" y="944087"/>
            <a:ext cx="3523226" cy="2408673"/>
          </a:xfrm>
          <a:prstGeom prst="rect">
            <a:avLst/>
          </a:prstGeom>
        </p:spPr>
      </p:pic>
      <p:sp>
        <p:nvSpPr>
          <p:cNvPr id="2" name="Título 1">
            <a:extLst>
              <a:ext uri="{FF2B5EF4-FFF2-40B4-BE49-F238E27FC236}">
                <a16:creationId xmlns:a16="http://schemas.microsoft.com/office/drawing/2014/main" id="{6E1C13DE-6B16-B114-8A0C-0459C5351378}"/>
              </a:ext>
            </a:extLst>
          </p:cNvPr>
          <p:cNvSpPr>
            <a:spLocks noGrp="1"/>
          </p:cNvSpPr>
          <p:nvPr>
            <p:ph type="title"/>
          </p:nvPr>
        </p:nvSpPr>
        <p:spPr/>
        <p:txBody>
          <a:bodyPr/>
          <a:lstStyle/>
          <a:p>
            <a:r>
              <a:rPr lang="es-ES"/>
              <a:t>II.Resultados ejercicio 1. Plots de los diferentes modos</a:t>
            </a:r>
          </a:p>
        </p:txBody>
      </p:sp>
      <p:sp>
        <p:nvSpPr>
          <p:cNvPr id="4" name="Marcador de pie de página 3">
            <a:extLst>
              <a:ext uri="{FF2B5EF4-FFF2-40B4-BE49-F238E27FC236}">
                <a16:creationId xmlns:a16="http://schemas.microsoft.com/office/drawing/2014/main" id="{9DB6887E-3126-CFBC-4D20-F640F0CA6805}"/>
              </a:ext>
            </a:extLst>
          </p:cNvPr>
          <p:cNvSpPr>
            <a:spLocks noGrp="1"/>
          </p:cNvSpPr>
          <p:nvPr>
            <p:ph type="ftr" sz="quarter" idx="5"/>
          </p:nvPr>
        </p:nvSpPr>
        <p:spPr>
          <a:xfrm>
            <a:off x="609600" y="6457057"/>
            <a:ext cx="2743200" cy="184666"/>
          </a:xfrm>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42F6F722-0148-E60C-AE98-515C19FCC4AE}"/>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22" name="Título 1">
            <a:extLst>
              <a:ext uri="{FF2B5EF4-FFF2-40B4-BE49-F238E27FC236}">
                <a16:creationId xmlns:a16="http://schemas.microsoft.com/office/drawing/2014/main" id="{1E83A990-34EF-11A9-3B90-91E2A60017E5}"/>
              </a:ext>
            </a:extLst>
          </p:cNvPr>
          <p:cNvSpPr txBox="1">
            <a:spLocks/>
          </p:cNvSpPr>
          <p:nvPr/>
        </p:nvSpPr>
        <p:spPr>
          <a:xfrm>
            <a:off x="737018" y="3050770"/>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TE0</a:t>
            </a:r>
          </a:p>
        </p:txBody>
      </p:sp>
      <p:sp>
        <p:nvSpPr>
          <p:cNvPr id="23" name="Título 1">
            <a:extLst>
              <a:ext uri="{FF2B5EF4-FFF2-40B4-BE49-F238E27FC236}">
                <a16:creationId xmlns:a16="http://schemas.microsoft.com/office/drawing/2014/main" id="{B7840245-10C7-D4EA-5DAE-CC0CDD5A780F}"/>
              </a:ext>
            </a:extLst>
          </p:cNvPr>
          <p:cNvSpPr txBox="1">
            <a:spLocks/>
          </p:cNvSpPr>
          <p:nvPr/>
        </p:nvSpPr>
        <p:spPr>
          <a:xfrm>
            <a:off x="4719531" y="3050770"/>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TE1</a:t>
            </a:r>
          </a:p>
        </p:txBody>
      </p:sp>
      <p:sp>
        <p:nvSpPr>
          <p:cNvPr id="24" name="Título 1">
            <a:extLst>
              <a:ext uri="{FF2B5EF4-FFF2-40B4-BE49-F238E27FC236}">
                <a16:creationId xmlns:a16="http://schemas.microsoft.com/office/drawing/2014/main" id="{44339CD6-2DB8-4B25-6B7A-F470A1D6A585}"/>
              </a:ext>
            </a:extLst>
          </p:cNvPr>
          <p:cNvSpPr txBox="1">
            <a:spLocks/>
          </p:cNvSpPr>
          <p:nvPr/>
        </p:nvSpPr>
        <p:spPr>
          <a:xfrm>
            <a:off x="737018" y="5719722"/>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TM0</a:t>
            </a:r>
          </a:p>
        </p:txBody>
      </p:sp>
      <p:sp>
        <p:nvSpPr>
          <p:cNvPr id="25" name="Título 1">
            <a:extLst>
              <a:ext uri="{FF2B5EF4-FFF2-40B4-BE49-F238E27FC236}">
                <a16:creationId xmlns:a16="http://schemas.microsoft.com/office/drawing/2014/main" id="{D1BDA5D0-8C32-0B31-B452-AC8DBB9CA7B6}"/>
              </a:ext>
            </a:extLst>
          </p:cNvPr>
          <p:cNvSpPr txBox="1">
            <a:spLocks/>
          </p:cNvSpPr>
          <p:nvPr/>
        </p:nvSpPr>
        <p:spPr>
          <a:xfrm>
            <a:off x="4719531" y="5719721"/>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TM1</a:t>
            </a:r>
          </a:p>
        </p:txBody>
      </p:sp>
      <p:sp>
        <p:nvSpPr>
          <p:cNvPr id="26" name="Marcador de texto 2">
            <a:extLst>
              <a:ext uri="{FF2B5EF4-FFF2-40B4-BE49-F238E27FC236}">
                <a16:creationId xmlns:a16="http://schemas.microsoft.com/office/drawing/2014/main" id="{64CD2C29-AAF2-4A96-4C8E-843F839A04F8}"/>
              </a:ext>
            </a:extLst>
          </p:cNvPr>
          <p:cNvSpPr>
            <a:spLocks noGrp="1"/>
          </p:cNvSpPr>
          <p:nvPr>
            <p:ph type="body" idx="1"/>
          </p:nvPr>
        </p:nvSpPr>
        <p:spPr>
          <a:xfrm>
            <a:off x="7848600" y="1213008"/>
            <a:ext cx="4174014" cy="3816429"/>
          </a:xfrm>
        </p:spPr>
        <p:txBody>
          <a:bodyPr wrap="square" lIns="0" tIns="0" rIns="0" bIns="0" anchor="t">
            <a:spAutoFit/>
          </a:bodyPr>
          <a:lstStyle/>
          <a:p>
            <a:pPr marL="285750" indent="-285750" algn="just">
              <a:buFont typeface="Arial" panose="020B0604020202020204" pitchFamily="34" charset="0"/>
              <a:buChar char="•"/>
            </a:pPr>
            <a:endParaRPr lang="es-ES" sz="1600">
              <a:ea typeface="+mn-lt"/>
              <a:cs typeface="+mn-lt"/>
            </a:endParaRPr>
          </a:p>
          <a:p>
            <a:pPr algn="just"/>
            <a:endParaRPr lang="es-ES" sz="1600"/>
          </a:p>
          <a:p>
            <a:pPr algn="just"/>
            <a:r>
              <a:rPr lang="es-ES"/>
              <a:t>Como vemos, los modos TE tienen discontinuidades en las paredes laterales  sugiriendo que una pequeña proporción de la onda se está propagando por la cubierta.</a:t>
            </a:r>
          </a:p>
          <a:p>
            <a:pPr algn="just"/>
            <a:r>
              <a:rPr lang="es-ES"/>
              <a:t>Por el contrario, los modos TM tienen discontinuidades en las paredes superior e inferior sugiriendo una vez más que parte de la onda (en este caso mayor a la proporción que la de los modos TE) se está propagando por la cubierta. </a:t>
            </a:r>
          </a:p>
          <a:p>
            <a:endParaRPr lang="es-ES"/>
          </a:p>
          <a:p>
            <a:endParaRPr lang="es-ES"/>
          </a:p>
        </p:txBody>
      </p:sp>
    </p:spTree>
    <p:extLst>
      <p:ext uri="{BB962C8B-B14F-4D97-AF65-F5344CB8AC3E}">
        <p14:creationId xmlns:p14="http://schemas.microsoft.com/office/powerpoint/2010/main" val="3710879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#2 – Directional coupler length and coupling coefficient</a:t>
            </a:r>
            <a:br>
              <a:rPr lang="en-US" sz="2500" spc="-5">
                <a:latin typeface="+mj-lt"/>
                <a:cs typeface="Lucida Sans"/>
              </a:rPr>
            </a:br>
            <a:r>
              <a:rPr lang="en-US" b="0"/>
              <a:t>Wavelength 1.5 µm – width 1.2 µm – gap 0.6 µm – thickness 300 nm</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860334"/>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Tal y como puede observarse, para los modos TE, si se quiere una transferencia completa de energía (K = 1) L/L_pi debe ser aprox. 93, mientras que para una transferencia del 50% (K = 0.5), L/L_pi debería de tomar el valor aproximado de 137 o 48.</a:t>
            </a:r>
          </a:p>
          <a:p>
            <a:pPr algn="just"/>
            <a:r>
              <a:rPr lang="en-US" sz="1200">
                <a:latin typeface="Arial" panose="020B0604020202020204" pitchFamily="34" charset="0"/>
                <a:cs typeface="Arial" panose="020B0604020202020204" pitchFamily="34" charset="0"/>
              </a:rPr>
              <a:t>Por otro lado, para los modos TM, si se desase transferencia completa de energía, L/L_pi debería de tomar un valor aproximado de 52, mientras que para una transferencia del 50%, L/L_pi podría tomar tanto el valor de 25 como el de 76 aproximadamente. </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B429FF81-0497-E06D-9AAD-D98E14C3077A}"/>
              </a:ext>
            </a:extLst>
          </p:cNvPr>
          <p:cNvPicPr>
            <a:picLocks noChangeAspect="1"/>
          </p:cNvPicPr>
          <p:nvPr/>
        </p:nvPicPr>
        <p:blipFill>
          <a:blip r:embed="rId4"/>
          <a:stretch>
            <a:fillRect/>
          </a:stretch>
        </p:blipFill>
        <p:spPr>
          <a:xfrm>
            <a:off x="1828800" y="1568818"/>
            <a:ext cx="3744864" cy="3005138"/>
          </a:xfrm>
          <a:prstGeom prst="rect">
            <a:avLst/>
          </a:prstGeom>
        </p:spPr>
      </p:pic>
      <p:pic>
        <p:nvPicPr>
          <p:cNvPr id="10" name="Imagen 9">
            <a:extLst>
              <a:ext uri="{FF2B5EF4-FFF2-40B4-BE49-F238E27FC236}">
                <a16:creationId xmlns:a16="http://schemas.microsoft.com/office/drawing/2014/main" id="{AF5CADC4-63C1-AF58-C6B5-4EC72382E06D}"/>
              </a:ext>
            </a:extLst>
          </p:cNvPr>
          <p:cNvPicPr>
            <a:picLocks noChangeAspect="1"/>
          </p:cNvPicPr>
          <p:nvPr/>
        </p:nvPicPr>
        <p:blipFill>
          <a:blip r:embed="rId5"/>
          <a:stretch>
            <a:fillRect/>
          </a:stretch>
        </p:blipFill>
        <p:spPr>
          <a:xfrm>
            <a:off x="6377360" y="1568817"/>
            <a:ext cx="3744865" cy="3005139"/>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#3 – 2x2 Directional Coupler</a:t>
            </a:r>
            <a:br>
              <a:rPr lang="en-US" sz="2500" spc="-5">
                <a:latin typeface="+mj-lt"/>
                <a:cs typeface="Lucida Sans"/>
              </a:rPr>
            </a:br>
            <a:r>
              <a:rPr lang="en-US" b="0"/>
              <a:t>Wavelength 1.55 µm – Sweep gaps between 0.2 and 1.2 µm in steps of 0.2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336240"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Conforme aumenta el gap (separación entre las dos guías de onda que componen el DC), el acoplamiento de la onda de una guía en la otra sucede de forma más lenta, es decir, se necesita más distancia para un acoplo del 100% de la señal, por ello L_pi aumenta. </a:t>
            </a:r>
          </a:p>
          <a:p>
            <a:pPr algn="just"/>
            <a:r>
              <a:rPr lang="en-US" sz="1200">
                <a:latin typeface="Arial" panose="020B0604020202020204" pitchFamily="34" charset="0"/>
                <a:cs typeface="Arial" panose="020B0604020202020204" pitchFamily="34" charset="0"/>
              </a:rPr>
              <a:t>Si se observa el parámentro MMI length, este es justo la mitad de L_pi. Esto es así ya que, si L_pi es la distancia para que se acople el 100% de la señal de una guía en la otra, “cortar” la simulación a una distancia MMI length = L_pi/2 hace que se transfiera el 50% por ello el </a:t>
            </a:r>
            <a:r>
              <a:rPr lang="en-US" sz="1200" i="1">
                <a:latin typeface="Arial" panose="020B0604020202020204" pitchFamily="34" charset="0"/>
                <a:cs typeface="Arial" panose="020B0604020202020204" pitchFamily="34" charset="0"/>
              </a:rPr>
              <a:t>Ratio over OUTs </a:t>
            </a:r>
            <a:r>
              <a:rPr lang="en-US" sz="1200">
                <a:latin typeface="Arial" panose="020B0604020202020204" pitchFamily="34" charset="0"/>
                <a:cs typeface="Arial" panose="020B0604020202020204" pitchFamily="34" charset="0"/>
              </a:rPr>
              <a:t>es aproximadamente [0.5, 0.5].</a:t>
            </a:r>
          </a:p>
          <a:p>
            <a:pPr algn="just"/>
            <a:r>
              <a:rPr lang="en-US" sz="1200">
                <a:latin typeface="Arial" panose="020B0604020202020204" pitchFamily="34" charset="0"/>
                <a:cs typeface="Arial" panose="020B0604020202020204" pitchFamily="34" charset="0"/>
              </a:rPr>
              <a:t>Por último, si observamos el valor de las pérdidas que introduce el DC (Excess loss), estas disminuyen al aumentar el gap. Esto se debe a un “escalón” menos brusco de índices de refracción por cambio de material “nucleo-cubierta-nucleo”. </a:t>
            </a: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336240"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99B9B2C1-5F65-9320-19C7-35BD33CFA4ED}"/>
              </a:ext>
            </a:extLst>
          </p:cNvPr>
          <p:cNvPicPr>
            <a:picLocks noChangeAspect="1"/>
          </p:cNvPicPr>
          <p:nvPr/>
        </p:nvPicPr>
        <p:blipFill>
          <a:blip r:embed="rId4"/>
          <a:stretch>
            <a:fillRect/>
          </a:stretch>
        </p:blipFill>
        <p:spPr>
          <a:xfrm>
            <a:off x="685800" y="1678834"/>
            <a:ext cx="3681413" cy="1505144"/>
          </a:xfrm>
          <a:prstGeom prst="rect">
            <a:avLst/>
          </a:prstGeom>
        </p:spPr>
      </p:pic>
      <p:pic>
        <p:nvPicPr>
          <p:cNvPr id="9" name="Imagen 8">
            <a:extLst>
              <a:ext uri="{FF2B5EF4-FFF2-40B4-BE49-F238E27FC236}">
                <a16:creationId xmlns:a16="http://schemas.microsoft.com/office/drawing/2014/main" id="{BDF65217-CA71-6129-31DE-B820F0CAAA5B}"/>
              </a:ext>
            </a:extLst>
          </p:cNvPr>
          <p:cNvPicPr>
            <a:picLocks noChangeAspect="1"/>
          </p:cNvPicPr>
          <p:nvPr/>
        </p:nvPicPr>
        <p:blipFill>
          <a:blip r:embed="rId5"/>
          <a:stretch>
            <a:fillRect/>
          </a:stretch>
        </p:blipFill>
        <p:spPr>
          <a:xfrm>
            <a:off x="685800" y="3488147"/>
            <a:ext cx="3681413" cy="1165568"/>
          </a:xfrm>
          <a:prstGeom prst="rect">
            <a:avLst/>
          </a:prstGeom>
        </p:spPr>
      </p:pic>
      <p:sp>
        <p:nvSpPr>
          <p:cNvPr id="10" name="Título 1">
            <a:extLst>
              <a:ext uri="{FF2B5EF4-FFF2-40B4-BE49-F238E27FC236}">
                <a16:creationId xmlns:a16="http://schemas.microsoft.com/office/drawing/2014/main" id="{761CD43F-00A6-9178-E10C-A532FE2597ED}"/>
              </a:ext>
            </a:extLst>
          </p:cNvPr>
          <p:cNvSpPr txBox="1">
            <a:spLocks/>
          </p:cNvSpPr>
          <p:nvPr/>
        </p:nvSpPr>
        <p:spPr>
          <a:xfrm>
            <a:off x="1040606" y="3177787"/>
            <a:ext cx="2971800" cy="246221"/>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sz="1600" kern="0"/>
              <a:t>Gap de 0.4 um</a:t>
            </a:r>
          </a:p>
        </p:txBody>
      </p:sp>
      <p:sp>
        <p:nvSpPr>
          <p:cNvPr id="11" name="Título 1">
            <a:extLst>
              <a:ext uri="{FF2B5EF4-FFF2-40B4-BE49-F238E27FC236}">
                <a16:creationId xmlns:a16="http://schemas.microsoft.com/office/drawing/2014/main" id="{EA02B4E5-EA1B-935B-E782-8EAB2C4B9907}"/>
              </a:ext>
            </a:extLst>
          </p:cNvPr>
          <p:cNvSpPr txBox="1">
            <a:spLocks/>
          </p:cNvSpPr>
          <p:nvPr/>
        </p:nvSpPr>
        <p:spPr>
          <a:xfrm>
            <a:off x="1040606" y="1456979"/>
            <a:ext cx="2971800" cy="246221"/>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sz="1600" kern="0"/>
              <a:t>Gap de 0.2 um</a:t>
            </a:r>
          </a:p>
        </p:txBody>
      </p:sp>
      <p:grpSp>
        <p:nvGrpSpPr>
          <p:cNvPr id="19" name="Grupo 18">
            <a:extLst>
              <a:ext uri="{FF2B5EF4-FFF2-40B4-BE49-F238E27FC236}">
                <a16:creationId xmlns:a16="http://schemas.microsoft.com/office/drawing/2014/main" id="{44DF39E5-DB27-B76F-7EA9-AE4BCEF557FE}"/>
              </a:ext>
            </a:extLst>
          </p:cNvPr>
          <p:cNvGrpSpPr/>
          <p:nvPr/>
        </p:nvGrpSpPr>
        <p:grpSpPr>
          <a:xfrm>
            <a:off x="4571281" y="2092790"/>
            <a:ext cx="2180076" cy="1957194"/>
            <a:chOff x="4590918" y="1573369"/>
            <a:chExt cx="3010162" cy="2497562"/>
          </a:xfrm>
        </p:grpSpPr>
        <p:pic>
          <p:nvPicPr>
            <p:cNvPr id="15" name="Imagen 14">
              <a:extLst>
                <a:ext uri="{FF2B5EF4-FFF2-40B4-BE49-F238E27FC236}">
                  <a16:creationId xmlns:a16="http://schemas.microsoft.com/office/drawing/2014/main" id="{C486B1B4-598F-3ACA-B805-F0796E6391F7}"/>
                </a:ext>
              </a:extLst>
            </p:cNvPr>
            <p:cNvPicPr>
              <a:picLocks noChangeAspect="1"/>
            </p:cNvPicPr>
            <p:nvPr/>
          </p:nvPicPr>
          <p:blipFill>
            <a:blip r:embed="rId6"/>
            <a:srcRect b="93366"/>
            <a:stretch>
              <a:fillRect/>
            </a:stretch>
          </p:blipFill>
          <p:spPr>
            <a:xfrm>
              <a:off x="4590919" y="1573369"/>
              <a:ext cx="3010161" cy="246221"/>
            </a:xfrm>
            <a:prstGeom prst="rect">
              <a:avLst/>
            </a:prstGeom>
          </p:spPr>
        </p:pic>
        <p:pic>
          <p:nvPicPr>
            <p:cNvPr id="18" name="Imagen 17">
              <a:extLst>
                <a:ext uri="{FF2B5EF4-FFF2-40B4-BE49-F238E27FC236}">
                  <a16:creationId xmlns:a16="http://schemas.microsoft.com/office/drawing/2014/main" id="{D902EEE6-CBD0-47E3-B39E-D86F50C7B4E8}"/>
                </a:ext>
              </a:extLst>
            </p:cNvPr>
            <p:cNvPicPr>
              <a:picLocks noChangeAspect="1"/>
            </p:cNvPicPr>
            <p:nvPr/>
          </p:nvPicPr>
          <p:blipFill>
            <a:blip r:embed="rId6"/>
            <a:srcRect t="39410"/>
            <a:stretch>
              <a:fillRect/>
            </a:stretch>
          </p:blipFill>
          <p:spPr>
            <a:xfrm>
              <a:off x="4590918" y="1822292"/>
              <a:ext cx="3010161" cy="2248639"/>
            </a:xfrm>
            <a:prstGeom prst="rect">
              <a:avLst/>
            </a:prstGeom>
          </p:spPr>
        </p:pic>
      </p:grpSp>
      <p:sp>
        <p:nvSpPr>
          <p:cNvPr id="20" name="Título 1">
            <a:extLst>
              <a:ext uri="{FF2B5EF4-FFF2-40B4-BE49-F238E27FC236}">
                <a16:creationId xmlns:a16="http://schemas.microsoft.com/office/drawing/2014/main" id="{D24F6C72-3DA9-BE3F-51EE-C715F40C7D53}"/>
              </a:ext>
            </a:extLst>
          </p:cNvPr>
          <p:cNvSpPr txBox="1">
            <a:spLocks/>
          </p:cNvSpPr>
          <p:nvPr/>
        </p:nvSpPr>
        <p:spPr>
          <a:xfrm>
            <a:off x="4571281" y="1751874"/>
            <a:ext cx="2971800" cy="246221"/>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sz="1600" kern="0"/>
              <a:t>Gap de 0.2 um</a:t>
            </a:r>
          </a:p>
        </p:txBody>
      </p:sp>
      <p:grpSp>
        <p:nvGrpSpPr>
          <p:cNvPr id="25" name="Grupo 24">
            <a:extLst>
              <a:ext uri="{FF2B5EF4-FFF2-40B4-BE49-F238E27FC236}">
                <a16:creationId xmlns:a16="http://schemas.microsoft.com/office/drawing/2014/main" id="{156128D6-49EE-BB05-292B-22C5B6778C13}"/>
              </a:ext>
            </a:extLst>
          </p:cNvPr>
          <p:cNvGrpSpPr/>
          <p:nvPr/>
        </p:nvGrpSpPr>
        <p:grpSpPr>
          <a:xfrm>
            <a:off x="6987143" y="2113737"/>
            <a:ext cx="2180075" cy="1957194"/>
            <a:chOff x="7983356" y="1888803"/>
            <a:chExt cx="2972058" cy="2448250"/>
          </a:xfrm>
        </p:grpSpPr>
        <p:pic>
          <p:nvPicPr>
            <p:cNvPr id="22" name="Imagen 21">
              <a:extLst>
                <a:ext uri="{FF2B5EF4-FFF2-40B4-BE49-F238E27FC236}">
                  <a16:creationId xmlns:a16="http://schemas.microsoft.com/office/drawing/2014/main" id="{C3023092-4B84-3BC2-CC5E-6FEDA0F55BF2}"/>
                </a:ext>
              </a:extLst>
            </p:cNvPr>
            <p:cNvPicPr>
              <a:picLocks noChangeAspect="1"/>
            </p:cNvPicPr>
            <p:nvPr/>
          </p:nvPicPr>
          <p:blipFill>
            <a:blip r:embed="rId7"/>
            <a:srcRect t="39119"/>
            <a:stretch>
              <a:fillRect/>
            </a:stretch>
          </p:blipFill>
          <p:spPr>
            <a:xfrm>
              <a:off x="7983356" y="2072965"/>
              <a:ext cx="2972058" cy="2264088"/>
            </a:xfrm>
            <a:prstGeom prst="rect">
              <a:avLst/>
            </a:prstGeom>
          </p:spPr>
        </p:pic>
        <p:pic>
          <p:nvPicPr>
            <p:cNvPr id="24" name="Imagen 23">
              <a:extLst>
                <a:ext uri="{FF2B5EF4-FFF2-40B4-BE49-F238E27FC236}">
                  <a16:creationId xmlns:a16="http://schemas.microsoft.com/office/drawing/2014/main" id="{E96EA479-D09C-9269-2730-57154BB4339D}"/>
                </a:ext>
              </a:extLst>
            </p:cNvPr>
            <p:cNvPicPr>
              <a:picLocks noChangeAspect="1"/>
            </p:cNvPicPr>
            <p:nvPr/>
          </p:nvPicPr>
          <p:blipFill>
            <a:blip r:embed="rId7"/>
            <a:srcRect b="94477"/>
            <a:stretch>
              <a:fillRect/>
            </a:stretch>
          </p:blipFill>
          <p:spPr>
            <a:xfrm>
              <a:off x="7983356" y="1888803"/>
              <a:ext cx="2972058" cy="205382"/>
            </a:xfrm>
            <a:prstGeom prst="rect">
              <a:avLst/>
            </a:prstGeom>
          </p:spPr>
        </p:pic>
      </p:grpSp>
      <p:sp>
        <p:nvSpPr>
          <p:cNvPr id="26" name="Título 1">
            <a:extLst>
              <a:ext uri="{FF2B5EF4-FFF2-40B4-BE49-F238E27FC236}">
                <a16:creationId xmlns:a16="http://schemas.microsoft.com/office/drawing/2014/main" id="{729082E1-DED9-44DB-EA16-30365B8D8C33}"/>
              </a:ext>
            </a:extLst>
          </p:cNvPr>
          <p:cNvSpPr txBox="1">
            <a:spLocks/>
          </p:cNvSpPr>
          <p:nvPr/>
        </p:nvSpPr>
        <p:spPr>
          <a:xfrm>
            <a:off x="7018862" y="1752718"/>
            <a:ext cx="1412252" cy="246221"/>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sz="1600" kern="0"/>
              <a:t>Gap de 0.4 um</a:t>
            </a:r>
          </a:p>
        </p:txBody>
      </p:sp>
      <p:pic>
        <p:nvPicPr>
          <p:cNvPr id="28" name="Imagen 27">
            <a:extLst>
              <a:ext uri="{FF2B5EF4-FFF2-40B4-BE49-F238E27FC236}">
                <a16:creationId xmlns:a16="http://schemas.microsoft.com/office/drawing/2014/main" id="{16FA036E-5626-27D0-C3BE-918DD7047EC1}"/>
              </a:ext>
            </a:extLst>
          </p:cNvPr>
          <p:cNvPicPr>
            <a:picLocks noChangeAspect="1"/>
          </p:cNvPicPr>
          <p:nvPr/>
        </p:nvPicPr>
        <p:blipFill>
          <a:blip r:embed="rId8"/>
          <a:stretch>
            <a:fillRect/>
          </a:stretch>
        </p:blipFill>
        <p:spPr>
          <a:xfrm>
            <a:off x="9198937" y="1735030"/>
            <a:ext cx="2746744" cy="2703826"/>
          </a:xfrm>
          <a:prstGeom prst="rect">
            <a:avLst/>
          </a:prstGeom>
        </p:spPr>
      </p:pic>
    </p:spTree>
    <p:extLst>
      <p:ext uri="{BB962C8B-B14F-4D97-AF65-F5344CB8AC3E}">
        <p14:creationId xmlns:p14="http://schemas.microsoft.com/office/powerpoint/2010/main" val="1558326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#4 – Parallel uncoupled waveguides – TE0 mode</a:t>
            </a:r>
            <a:br>
              <a:rPr lang="en-US" sz="2500" spc="-5">
                <a:latin typeface="+mj-lt"/>
                <a:cs typeface="Lucida Sans"/>
              </a:rPr>
            </a:br>
            <a:r>
              <a:rPr lang="en-US" b="0"/>
              <a:t>Wavelength 1.55 µm, width 1.0 µm, gap to be found for uncoupled </a:t>
            </a:r>
            <a:r>
              <a:rPr lang="en-US" b="0" err="1"/>
              <a:t>wvgs</a:t>
            </a:r>
            <a:endParaRPr lang="en-US" sz="2500" b="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1754326"/>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Nota de los autores: Dado que no se indica el core_thickness, hemos supuesto de este un valor igual que el que venía repitiéndose en ejercicios anteriores, es decir, un valor de 300 nm. </a:t>
            </a:r>
          </a:p>
          <a:p>
            <a:pPr algn="just"/>
            <a:endParaRPr lang="en-US" sz="1200">
              <a:latin typeface="Arial" panose="020B0604020202020204" pitchFamily="34" charset="0"/>
              <a:cs typeface="Arial" panose="020B0604020202020204" pitchFamily="34" charset="0"/>
            </a:endParaRPr>
          </a:p>
          <a:p>
            <a:pPr algn="just"/>
            <a:r>
              <a:rPr lang="en-US" sz="1200">
                <a:latin typeface="Arial" panose="020B0604020202020204" pitchFamily="34" charset="0"/>
                <a:cs typeface="Arial" panose="020B0604020202020204" pitchFamily="34" charset="0"/>
              </a:rPr>
              <a:t>Resultados</a:t>
            </a:r>
          </a:p>
          <a:p>
            <a:pPr algn="just"/>
            <a:r>
              <a:rPr lang="en-US" sz="1200">
                <a:latin typeface="Arial" panose="020B0604020202020204" pitchFamily="34" charset="0"/>
                <a:cs typeface="Arial" panose="020B0604020202020204" pitchFamily="34" charset="0"/>
              </a:rPr>
              <a:t>Tal y como puede observarse en las gráficas, para el caso de dos guías de onda de tipo deep bajo las condiciones citadas, se necesita como mínimo un gap de aproximadamente 0.085 um (85 nm) para evitar que haya acoplo entre dichas guías ya que se conseguiría una cte de acoplamiento K &lt;= 0.01. </a:t>
            </a:r>
          </a:p>
          <a:p>
            <a:pPr algn="just"/>
            <a:r>
              <a:rPr lang="en-US" sz="1200">
                <a:latin typeface="Arial" panose="020B0604020202020204" pitchFamily="34" charset="0"/>
                <a:cs typeface="Arial" panose="020B0604020202020204" pitchFamily="34" charset="0"/>
              </a:rPr>
              <a:t>Por otro lado, para el caso de dos guías de onda de tipo shallow, se observa que el mínimo gap entre guías de onda debe ser bastante más grande, de aproximadamente 0.302 um (302 nm) para evitar acoplo entre estas guías. Esto se debe a que el material del núcleo en una guía shallow se extiende más allá del espacio que ocupa el material del núcleo en una guía de onda de tipo deep.</a:t>
            </a: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Imagen 10">
            <a:extLst>
              <a:ext uri="{FF2B5EF4-FFF2-40B4-BE49-F238E27FC236}">
                <a16:creationId xmlns:a16="http://schemas.microsoft.com/office/drawing/2014/main" id="{56996996-5292-05B2-633C-A648E6F576ED}"/>
              </a:ext>
            </a:extLst>
          </p:cNvPr>
          <p:cNvPicPr>
            <a:picLocks noChangeAspect="1"/>
          </p:cNvPicPr>
          <p:nvPr/>
        </p:nvPicPr>
        <p:blipFill>
          <a:blip r:embed="rId4"/>
          <a:stretch>
            <a:fillRect/>
          </a:stretch>
        </p:blipFill>
        <p:spPr>
          <a:xfrm>
            <a:off x="1484182" y="1447800"/>
            <a:ext cx="3737235" cy="2911716"/>
          </a:xfrm>
          <a:prstGeom prst="rect">
            <a:avLst/>
          </a:prstGeom>
        </p:spPr>
      </p:pic>
      <p:pic>
        <p:nvPicPr>
          <p:cNvPr id="13" name="Imagen 12">
            <a:extLst>
              <a:ext uri="{FF2B5EF4-FFF2-40B4-BE49-F238E27FC236}">
                <a16:creationId xmlns:a16="http://schemas.microsoft.com/office/drawing/2014/main" id="{D1A15DAD-DC53-BEFB-7CAB-89D66D5772AB}"/>
              </a:ext>
            </a:extLst>
          </p:cNvPr>
          <p:cNvPicPr>
            <a:picLocks noChangeAspect="1"/>
          </p:cNvPicPr>
          <p:nvPr/>
        </p:nvPicPr>
        <p:blipFill>
          <a:blip r:embed="rId5"/>
          <a:stretch>
            <a:fillRect/>
          </a:stretch>
        </p:blipFill>
        <p:spPr>
          <a:xfrm>
            <a:off x="7221682" y="1447800"/>
            <a:ext cx="3686041" cy="2911716"/>
          </a:xfrm>
          <a:prstGeom prst="rect">
            <a:avLst/>
          </a:prstGeom>
        </p:spPr>
      </p:pic>
    </p:spTree>
    <p:extLst>
      <p:ext uri="{BB962C8B-B14F-4D97-AF65-F5344CB8AC3E}">
        <p14:creationId xmlns:p14="http://schemas.microsoft.com/office/powerpoint/2010/main" val="3712356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4E70-43B1-3881-1771-20FB4358471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2C31CE-19F0-B995-0997-9A2D6A879BF7}"/>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nSpc>
                <a:spcPct val="100000"/>
              </a:lnSpc>
              <a:spcBef>
                <a:spcPts val="100"/>
              </a:spcBef>
            </a:pPr>
            <a:r>
              <a:rPr lang="en-US" sz="2500"/>
              <a:t>Learning outcome #5 – Multimode Interference (MMI) Coupler cross-section</a:t>
            </a:r>
            <a:endParaRPr lang="en-US" sz="2500" b="0">
              <a:latin typeface="+mj-lt"/>
              <a:cs typeface="Lucida Sans"/>
            </a:endParaRPr>
          </a:p>
        </p:txBody>
      </p:sp>
      <p:pic>
        <p:nvPicPr>
          <p:cNvPr id="83" name="Gráfico 82">
            <a:extLst>
              <a:ext uri="{FF2B5EF4-FFF2-40B4-BE49-F238E27FC236}">
                <a16:creationId xmlns:a16="http://schemas.microsoft.com/office/drawing/2014/main" id="{D688A609-F3DC-EE34-C536-683E70F32EA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6C672C6-89D4-7E67-2B94-811D081786A7}"/>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AA1F4313-D710-7A3E-7A8F-EB77DEE3C1A7}"/>
              </a:ext>
            </a:extLst>
          </p:cNvPr>
          <p:cNvSpPr>
            <a:spLocks noGrp="1"/>
          </p:cNvSpPr>
          <p:nvPr>
            <p:ph type="ftr" sz="quarter" idx="5"/>
          </p:nvPr>
        </p:nvSpPr>
        <p:spPr/>
        <p:txBody>
          <a:bodyPr/>
          <a:lstStyle/>
          <a:p>
            <a:pPr marL="12700">
              <a:spcBef>
                <a:spcPts val="15"/>
              </a:spcBef>
            </a:pPr>
            <a:r>
              <a:rPr lang="es-ES" spc="-5"/>
              <a:t>LAB 2.0. COUPLERS</a:t>
            </a:r>
          </a:p>
        </p:txBody>
      </p:sp>
      <mc:AlternateContent xmlns:mc="http://schemas.openxmlformats.org/markup-compatibility/2006" xmlns:a14="http://schemas.microsoft.com/office/drawing/2010/main">
        <mc:Choice Requires="a14">
          <p:sp>
            <p:nvSpPr>
              <p:cNvPr id="4" name="Marcador de texto 2">
                <a:extLst>
                  <a:ext uri="{FF2B5EF4-FFF2-40B4-BE49-F238E27FC236}">
                    <a16:creationId xmlns:a16="http://schemas.microsoft.com/office/drawing/2014/main" id="{D838A93A-BFC8-0124-93CE-FDC193435A0C}"/>
                  </a:ext>
                </a:extLst>
              </p:cNvPr>
              <p:cNvSpPr txBox="1">
                <a:spLocks/>
              </p:cNvSpPr>
              <p:nvPr/>
            </p:nvSpPr>
            <p:spPr>
              <a:xfrm>
                <a:off x="608012" y="1295400"/>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indent="0">
                  <a:buNone/>
                </a:pPr>
                <a:r>
                  <a:rPr lang="en-US" sz="2000" b="1"/>
                  <a:t>INSTRUCTOR:</a:t>
                </a:r>
              </a:p>
              <a:p>
                <a:pPr marL="342900" indent="-342900" algn="just">
                  <a:buFont typeface="Arial" panose="020B0604020202020204" pitchFamily="34" charset="0"/>
                  <a:buChar char="•"/>
                </a:pPr>
                <a:r>
                  <a:rPr lang="en-US" sz="2000"/>
                  <a:t>Present Python and </a:t>
                </a:r>
                <a:r>
                  <a:rPr lang="en-US" sz="2000" err="1"/>
                  <a:t>GDSFactory</a:t>
                </a:r>
                <a:r>
                  <a:rPr lang="en-US" sz="2000"/>
                  <a:t> implementation of DC cross-section</a:t>
                </a:r>
              </a:p>
              <a:p>
                <a:pPr marL="342900" indent="-342900" algn="just">
                  <a:buFont typeface="Arial" panose="020B0604020202020204" pitchFamily="34" charset="0"/>
                  <a:buChar char="•"/>
                </a:pPr>
                <a:r>
                  <a:rPr lang="en-US" sz="2000"/>
                  <a:t>Describe how to obtain the length </a:t>
                </a:r>
                <a14:m>
                  <m:oMath xmlns:m="http://schemas.openxmlformats.org/officeDocument/2006/math">
                    <m:sSub>
                      <m:sSubPr>
                        <m:ctrlPr>
                          <a:rPr lang="es-ES" sz="2000" b="0" i="1" smtClean="0">
                            <a:latin typeface="Cambria Math" panose="02040503050406030204" pitchFamily="18" charset="0"/>
                          </a:rPr>
                        </m:ctrlPr>
                      </m:sSubPr>
                      <m:e>
                        <m:r>
                          <a:rPr lang="es-ES" sz="2000" b="0" i="1" smtClean="0">
                            <a:latin typeface="Cambria Math" panose="02040503050406030204" pitchFamily="18" charset="0"/>
                          </a:rPr>
                          <m:t>𝐿</m:t>
                        </m:r>
                      </m:e>
                      <m:sub>
                        <m:r>
                          <a:rPr lang="es-ES" sz="2000" b="0" i="1" smtClean="0">
                            <a:latin typeface="Cambria Math" panose="02040503050406030204" pitchFamily="18" charset="0"/>
                          </a:rPr>
                          <m:t>𝜋</m:t>
                        </m:r>
                      </m:sub>
                    </m:sSub>
                  </m:oMath>
                </a14:m>
                <a:endParaRPr lang="en-US" sz="2000"/>
              </a:p>
              <a:p>
                <a:pPr marL="342900" indent="-342900" algn="just">
                  <a:buFont typeface="Arial" panose="020B0604020202020204" pitchFamily="34" charset="0"/>
                  <a:buChar char="•"/>
                </a:pPr>
                <a:r>
                  <a:rPr lang="en-US" sz="2000"/>
                  <a:t>Describe the outputs.</a:t>
                </a:r>
              </a:p>
              <a:p>
                <a:pPr marL="0" indent="0" algn="just">
                  <a:buNone/>
                </a:pPr>
                <a:r>
                  <a:rPr lang="en-US" sz="2000" b="1"/>
                  <a:t>ALL EXAMPLE #2: </a:t>
                </a:r>
                <a:r>
                  <a:rPr lang="en-US" sz="2000"/>
                  <a:t>waveguide width 12 µm, gap between waveguides 0.6 µm, deep </a:t>
                </a:r>
                <a:r>
                  <a:rPr lang="en-US" sz="2000" err="1"/>
                  <a:t>wvg</a:t>
                </a:r>
                <a:r>
                  <a:rPr lang="en-US" sz="2000"/>
                  <a:t>, wavelength start and end same 1.55 µm </a:t>
                </a:r>
                <a:r>
                  <a:rPr lang="en-US" sz="2000">
                    <a:sym typeface="Wingdings" pitchFamily="2" charset="2"/>
                  </a:rPr>
                  <a:t> all ”Run”</a:t>
                </a:r>
                <a:endParaRPr lang="en-US" sz="2000"/>
              </a:p>
              <a:p>
                <a:pPr marL="0" indent="0" algn="just">
                  <a:buNone/>
                </a:pPr>
                <a:r>
                  <a:rPr lang="en-US" sz="2000" b="1"/>
                  <a:t>ALL: </a:t>
                </a:r>
                <a:r>
                  <a:rPr lang="en-US" sz="2000"/>
                  <a:t>Follow</a:t>
                </a:r>
                <a:r>
                  <a:rPr lang="en-US" sz="2000" b="1"/>
                  <a:t> </a:t>
                </a:r>
                <a:r>
                  <a:rPr lang="en-US" sz="2000"/>
                  <a:t>instructor, that will show how to 1) plot mode, 2) explore the results (neff …)</a:t>
                </a:r>
              </a:p>
              <a:p>
                <a:pPr algn="just"/>
                <a:endParaRPr lang="en-US" sz="2000" b="1" i="1" u="sng"/>
              </a:p>
              <a:p>
                <a:pPr algn="just"/>
                <a:endParaRPr lang="en-US" sz="2000" kern="0">
                  <a:solidFill>
                    <a:sysClr val="windowText" lastClr="000000"/>
                  </a:solidFill>
                </a:endParaRPr>
              </a:p>
            </p:txBody>
          </p:sp>
        </mc:Choice>
        <mc:Fallback xmlns="">
          <p:sp>
            <p:nvSpPr>
              <p:cNvPr id="4" name="Marcador de texto 2">
                <a:extLst>
                  <a:ext uri="{FF2B5EF4-FFF2-40B4-BE49-F238E27FC236}">
                    <a16:creationId xmlns:a16="http://schemas.microsoft.com/office/drawing/2014/main" id="{D838A93A-BFC8-0124-93CE-FDC193435A0C}"/>
                  </a:ext>
                </a:extLst>
              </p:cNvPr>
              <p:cNvSpPr txBox="1">
                <a:spLocks noRot="1" noChangeAspect="1" noMove="1" noResize="1" noEditPoints="1" noAdjustHandles="1" noChangeArrowheads="1" noChangeShapeType="1" noTextEdit="1"/>
              </p:cNvSpPr>
              <p:nvPr/>
            </p:nvSpPr>
            <p:spPr>
              <a:xfrm>
                <a:off x="608012" y="1295400"/>
                <a:ext cx="11048999" cy="4958137"/>
              </a:xfrm>
              <a:prstGeom prst="rect">
                <a:avLst/>
              </a:prstGeom>
              <a:blipFill>
                <a:blip r:embed="rId4"/>
                <a:stretch>
                  <a:fillRect l="-607" t="-738" r="-552"/>
                </a:stretch>
              </a:blipFill>
            </p:spPr>
            <p:txBody>
              <a:bodyPr/>
              <a:lstStyle/>
              <a:p>
                <a:r>
                  <a:rPr lang="en-US">
                    <a:noFill/>
                  </a:rPr>
                  <a:t> </a:t>
                </a:r>
              </a:p>
            </p:txBody>
          </p:sp>
        </mc:Fallback>
      </mc:AlternateContent>
      <p:sp>
        <p:nvSpPr>
          <p:cNvPr id="2" name="CuadroTexto 1">
            <a:extLst>
              <a:ext uri="{FF2B5EF4-FFF2-40B4-BE49-F238E27FC236}">
                <a16:creationId xmlns:a16="http://schemas.microsoft.com/office/drawing/2014/main" id="{FDE3A197-9508-F9F1-1FEB-FF883D78C151}"/>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Document all your results (neff, plot fields of different modes, comparison between different polarizations…) -&gt; RESULTADOS EN LA SIGUIENTE DIAPOSITIVA</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2451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05A2-2361-45BC-B647-F93BFF8EF6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3201BD-AE1E-8B01-117D-F22FFD3CF253}"/>
              </a:ext>
            </a:extLst>
          </p:cNvPr>
          <p:cNvSpPr>
            <a:spLocks noGrp="1"/>
          </p:cNvSpPr>
          <p:nvPr>
            <p:ph type="title"/>
          </p:nvPr>
        </p:nvSpPr>
        <p:spPr/>
        <p:txBody>
          <a:bodyPr/>
          <a:lstStyle/>
          <a:p>
            <a:r>
              <a:rPr lang="es-ES"/>
              <a:t>I. Resultados ejercicio 5</a:t>
            </a:r>
          </a:p>
        </p:txBody>
      </p:sp>
      <p:sp>
        <p:nvSpPr>
          <p:cNvPr id="3" name="Marcador de texto 2">
            <a:extLst>
              <a:ext uri="{FF2B5EF4-FFF2-40B4-BE49-F238E27FC236}">
                <a16:creationId xmlns:a16="http://schemas.microsoft.com/office/drawing/2014/main" id="{E7A452BA-6E7A-1E17-348B-DD188C1ECB8E}"/>
              </a:ext>
            </a:extLst>
          </p:cNvPr>
          <p:cNvSpPr>
            <a:spLocks noGrp="1"/>
          </p:cNvSpPr>
          <p:nvPr>
            <p:ph type="body" idx="1"/>
          </p:nvPr>
        </p:nvSpPr>
        <p:spPr>
          <a:xfrm>
            <a:off x="609600" y="701635"/>
            <a:ext cx="10972800" cy="4216539"/>
          </a:xfrm>
        </p:spPr>
        <p:txBody>
          <a:bodyPr wrap="square" lIns="0" tIns="0" rIns="0" bIns="0" anchor="t">
            <a:spAutoFit/>
          </a:bodyPr>
          <a:lstStyle/>
          <a:p>
            <a:r>
              <a:rPr lang="es-ES" b="1"/>
              <a:t>Índices de refracción efectivos: </a:t>
            </a:r>
          </a:p>
          <a:p>
            <a:pPr algn="just"/>
            <a:r>
              <a:rPr lang="es-ES" sz="1600"/>
              <a:t>Determinan la velocidad de propagación de la onda en el MMI. Solo nos interesa la parte real del número. En nuestra guía, los índices de refracción van entre 2 (el índice de refracción del núcleo -&gt; n1) y 1.45 (el índice de refracción de la cubierta -&gt; n2), por lo que el índice efectivo debe estar entre estos dos (n1 &lt; n &lt; n2). </a:t>
            </a:r>
          </a:p>
          <a:p>
            <a:pPr algn="just"/>
            <a:endParaRPr lang="es-ES" sz="1600"/>
          </a:p>
          <a:p>
            <a:pPr algn="just"/>
            <a:r>
              <a:rPr lang="es-ES" sz="1600"/>
              <a:t>Lo resultados obtenidos se muestran en la siguiente imagen: </a:t>
            </a:r>
          </a:p>
          <a:p>
            <a:pPr algn="just"/>
            <a:endParaRPr lang="es-ES" sz="1600"/>
          </a:p>
          <a:p>
            <a:pPr algn="just"/>
            <a:endParaRPr lang="es-ES" sz="1600"/>
          </a:p>
          <a:p>
            <a:pPr algn="just"/>
            <a:endParaRPr lang="es-ES" sz="1600"/>
          </a:p>
          <a:p>
            <a:pPr algn="just"/>
            <a:endParaRPr lang="es-ES" sz="1600"/>
          </a:p>
          <a:p>
            <a:pPr algn="just"/>
            <a:endParaRPr lang="es-ES" sz="1600"/>
          </a:p>
          <a:p>
            <a:pPr algn="just"/>
            <a:endParaRPr lang="es-ES" sz="1600"/>
          </a:p>
          <a:p>
            <a:pPr algn="just"/>
            <a:endParaRPr lang="es-ES" sz="1600"/>
          </a:p>
          <a:p>
            <a:pPr algn="just"/>
            <a:endParaRPr lang="es-ES" sz="1600" b="1"/>
          </a:p>
          <a:p>
            <a:pPr algn="just"/>
            <a:endParaRPr lang="es-ES" sz="1600">
              <a:ea typeface="+mn-lt"/>
              <a:cs typeface="+mn-lt"/>
            </a:endParaRPr>
          </a:p>
          <a:p>
            <a:pPr algn="just"/>
            <a:r>
              <a:rPr lang="es-ES" sz="1600">
                <a:ea typeface="+mn-lt"/>
                <a:cs typeface="+mn-lt"/>
              </a:rPr>
              <a:t>-&gt; Se observa que a medida que aumenta el orden del modo, disminuye Re(neff) lo que implica una clara disminución del confinamiento de la onda en el núcleo del MMI. </a:t>
            </a:r>
          </a:p>
        </p:txBody>
      </p:sp>
      <p:sp>
        <p:nvSpPr>
          <p:cNvPr id="4" name="Marcador de pie de página 3">
            <a:extLst>
              <a:ext uri="{FF2B5EF4-FFF2-40B4-BE49-F238E27FC236}">
                <a16:creationId xmlns:a16="http://schemas.microsoft.com/office/drawing/2014/main" id="{89395DEB-978C-06F6-3EE5-47BEB5081BC9}"/>
              </a:ext>
            </a:extLst>
          </p:cNvPr>
          <p:cNvSpPr>
            <a:spLocks noGrp="1"/>
          </p:cNvSpPr>
          <p:nvPr>
            <p:ph type="ftr" sz="quarter" idx="5"/>
          </p:nvPr>
        </p:nvSpPr>
        <p:spPr>
          <a:xfrm>
            <a:off x="609600" y="6457057"/>
            <a:ext cx="2743200" cy="184666"/>
          </a:xfrm>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131A0747-9F83-1708-C1D6-57D40DFF8DA4}"/>
              </a:ext>
            </a:extLst>
          </p:cNvPr>
          <p:cNvSpPr>
            <a:spLocks noGrp="1"/>
          </p:cNvSpPr>
          <p:nvPr>
            <p:ph type="sldNum" sz="quarter" idx="7"/>
          </p:nvPr>
        </p:nvSpPr>
        <p:spPr/>
        <p:txBody>
          <a:bodyPr/>
          <a:lstStyle/>
          <a:p>
            <a:fld id="{B6F15528-21DE-4FAA-801E-634DDDAF4B2B}" type="slidenum">
              <a:rPr lang="es-ES" smtClean="0"/>
              <a:t>12</a:t>
            </a:fld>
            <a:endParaRPr lang="es-ES"/>
          </a:p>
        </p:txBody>
      </p:sp>
      <p:pic>
        <p:nvPicPr>
          <p:cNvPr id="7" name="Imagen 6">
            <a:extLst>
              <a:ext uri="{FF2B5EF4-FFF2-40B4-BE49-F238E27FC236}">
                <a16:creationId xmlns:a16="http://schemas.microsoft.com/office/drawing/2014/main" id="{083D6EF7-61EA-7E9D-13DA-281D2411C34D}"/>
              </a:ext>
            </a:extLst>
          </p:cNvPr>
          <p:cNvPicPr>
            <a:picLocks noChangeAspect="1"/>
          </p:cNvPicPr>
          <p:nvPr/>
        </p:nvPicPr>
        <p:blipFill>
          <a:blip r:embed="rId2"/>
          <a:stretch>
            <a:fillRect/>
          </a:stretch>
        </p:blipFill>
        <p:spPr>
          <a:xfrm>
            <a:off x="3799029" y="2438400"/>
            <a:ext cx="4593942" cy="1778300"/>
          </a:xfrm>
          <a:prstGeom prst="rect">
            <a:avLst/>
          </a:prstGeom>
        </p:spPr>
      </p:pic>
    </p:spTree>
    <p:extLst>
      <p:ext uri="{BB962C8B-B14F-4D97-AF65-F5344CB8AC3E}">
        <p14:creationId xmlns:p14="http://schemas.microsoft.com/office/powerpoint/2010/main" val="3086083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85512-D48F-4AD2-7FC9-4E50C1B476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C0BAFA-1319-364C-32DC-B9C8B9969B19}"/>
              </a:ext>
            </a:extLst>
          </p:cNvPr>
          <p:cNvSpPr>
            <a:spLocks noGrp="1"/>
          </p:cNvSpPr>
          <p:nvPr>
            <p:ph type="title"/>
          </p:nvPr>
        </p:nvSpPr>
        <p:spPr/>
        <p:txBody>
          <a:bodyPr/>
          <a:lstStyle/>
          <a:p>
            <a:r>
              <a:rPr lang="es-ES"/>
              <a:t>II. Resultados ejercicio 5</a:t>
            </a:r>
          </a:p>
        </p:txBody>
      </p:sp>
      <p:sp>
        <p:nvSpPr>
          <p:cNvPr id="4" name="Marcador de pie de página 3">
            <a:extLst>
              <a:ext uri="{FF2B5EF4-FFF2-40B4-BE49-F238E27FC236}">
                <a16:creationId xmlns:a16="http://schemas.microsoft.com/office/drawing/2014/main" id="{25ED5818-AD85-E311-BE5F-C81BA56E24DA}"/>
              </a:ext>
            </a:extLst>
          </p:cNvPr>
          <p:cNvSpPr>
            <a:spLocks noGrp="1"/>
          </p:cNvSpPr>
          <p:nvPr>
            <p:ph type="ftr" sz="quarter" idx="5"/>
          </p:nvPr>
        </p:nvSpPr>
        <p:spPr>
          <a:xfrm>
            <a:off x="609600" y="6457057"/>
            <a:ext cx="2743200" cy="184666"/>
          </a:xfrm>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FEAA4434-CCE0-724F-ABDB-1900C8A4B5C9}"/>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9" name="CuadroTexto 8">
            <a:extLst>
              <a:ext uri="{FF2B5EF4-FFF2-40B4-BE49-F238E27FC236}">
                <a16:creationId xmlns:a16="http://schemas.microsoft.com/office/drawing/2014/main" id="{B85F313E-4611-23A9-C79E-EB45859A85EE}"/>
              </a:ext>
            </a:extLst>
          </p:cNvPr>
          <p:cNvSpPr txBox="1"/>
          <p:nvPr/>
        </p:nvSpPr>
        <p:spPr>
          <a:xfrm>
            <a:off x="495300" y="762000"/>
            <a:ext cx="11201400" cy="4770537"/>
          </a:xfrm>
          <a:prstGeom prst="rect">
            <a:avLst/>
          </a:prstGeom>
          <a:noFill/>
        </p:spPr>
        <p:txBody>
          <a:bodyPr wrap="square">
            <a:spAutoFit/>
          </a:bodyPr>
          <a:lstStyle/>
          <a:p>
            <a:r>
              <a:rPr lang="es-ES" sz="1600" b="1">
                <a:ea typeface="+mn-lt"/>
                <a:cs typeface="+mn-lt"/>
              </a:rPr>
              <a:t>Identificación de modos quasi TEM y quasi TM: </a:t>
            </a:r>
          </a:p>
          <a:p>
            <a:r>
              <a:rPr lang="es-ES" sz="1600"/>
              <a:t>Con la función: mmi_body_waveguide.fraction_te, obtenemos:</a:t>
            </a:r>
          </a:p>
          <a:p>
            <a:endParaRPr lang="es-ES" sz="1600"/>
          </a:p>
          <a:p>
            <a:endParaRPr lang="es-ES" sz="1600"/>
          </a:p>
          <a:p>
            <a:endParaRPr lang="es-ES" sz="1600"/>
          </a:p>
          <a:p>
            <a:endParaRPr lang="es-ES" sz="1600"/>
          </a:p>
          <a:p>
            <a:endParaRPr lang="es-ES" sz="1600"/>
          </a:p>
          <a:p>
            <a:endParaRPr lang="en-US" sz="1600"/>
          </a:p>
          <a:p>
            <a:r>
              <a:rPr lang="en-US" sz="1600"/>
              <a:t>Si está cercano  a 1 es modo quasi TEM y si está cercano a 0 es quasi TM. El primero y el segundo son quasi TEM porque la fracción de TE da cercana a 1 mientras que en algunos modos, como por ejemplo el último, se observa que la fracción TE disminuye dando a entender que este modo está más cercano a uno quasi TM que TEM. </a:t>
            </a:r>
          </a:p>
          <a:p>
            <a:endParaRPr lang="en-US" sz="1600"/>
          </a:p>
          <a:p>
            <a:endParaRPr lang="en-US" sz="1600"/>
          </a:p>
          <a:p>
            <a:r>
              <a:rPr lang="en-US" sz="1600"/>
              <a:t>Respecto al cálculo de L</a:t>
            </a:r>
            <a:r>
              <a:rPr lang="el-GR" sz="1600"/>
              <a:t>π</a:t>
            </a:r>
            <a:r>
              <a:rPr lang="es-ES" sz="1600"/>
              <a:t>, cuando este se calcula utilizando la formula </a:t>
            </a:r>
          </a:p>
          <a:p>
            <a:endParaRPr lang="en-US" sz="1600"/>
          </a:p>
          <a:p>
            <a:r>
              <a:rPr lang="en-US" sz="1600"/>
              <a:t>se obtiene un valor aproximado de 219.41 um. Este valor indica que para acoplarse el 100% de la señal de un núcleo a otro se necesita recorrer dicha distancia.  </a:t>
            </a:r>
          </a:p>
          <a:p>
            <a:endParaRPr lang="en-US" sz="1600"/>
          </a:p>
          <a:p>
            <a:endParaRPr lang="es-ES" sz="1600"/>
          </a:p>
        </p:txBody>
      </p:sp>
      <p:pic>
        <p:nvPicPr>
          <p:cNvPr id="11" name="Imagen 10">
            <a:extLst>
              <a:ext uri="{FF2B5EF4-FFF2-40B4-BE49-F238E27FC236}">
                <a16:creationId xmlns:a16="http://schemas.microsoft.com/office/drawing/2014/main" id="{6E76644B-6B61-B494-E7D9-3021B5943B8B}"/>
              </a:ext>
            </a:extLst>
          </p:cNvPr>
          <p:cNvPicPr>
            <a:picLocks noChangeAspect="1"/>
          </p:cNvPicPr>
          <p:nvPr/>
        </p:nvPicPr>
        <p:blipFill>
          <a:blip r:embed="rId2"/>
          <a:stretch>
            <a:fillRect/>
          </a:stretch>
        </p:blipFill>
        <p:spPr>
          <a:xfrm>
            <a:off x="3383045" y="1371600"/>
            <a:ext cx="5425910" cy="1082134"/>
          </a:xfrm>
          <a:prstGeom prst="rect">
            <a:avLst/>
          </a:prstGeom>
        </p:spPr>
      </p:pic>
      <p:pic>
        <p:nvPicPr>
          <p:cNvPr id="13" name="Imagen 12">
            <a:extLst>
              <a:ext uri="{FF2B5EF4-FFF2-40B4-BE49-F238E27FC236}">
                <a16:creationId xmlns:a16="http://schemas.microsoft.com/office/drawing/2014/main" id="{15FB23BF-D81B-5FB5-DFF2-799CC93D235F}"/>
              </a:ext>
            </a:extLst>
          </p:cNvPr>
          <p:cNvPicPr>
            <a:picLocks noChangeAspect="1"/>
          </p:cNvPicPr>
          <p:nvPr/>
        </p:nvPicPr>
        <p:blipFill>
          <a:blip r:embed="rId3"/>
          <a:stretch>
            <a:fillRect/>
          </a:stretch>
        </p:blipFill>
        <p:spPr>
          <a:xfrm>
            <a:off x="6477000" y="3779041"/>
            <a:ext cx="3581710" cy="685859"/>
          </a:xfrm>
          <a:prstGeom prst="rect">
            <a:avLst/>
          </a:prstGeom>
        </p:spPr>
      </p:pic>
    </p:spTree>
    <p:extLst>
      <p:ext uri="{BB962C8B-B14F-4D97-AF65-F5344CB8AC3E}">
        <p14:creationId xmlns:p14="http://schemas.microsoft.com/office/powerpoint/2010/main" val="2693199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19AB9-1420-8180-CD98-2582ED8EF354}"/>
            </a:ext>
          </a:extLst>
        </p:cNvPr>
        <p:cNvGrpSpPr/>
        <p:nvPr/>
      </p:nvGrpSpPr>
      <p:grpSpPr>
        <a:xfrm>
          <a:off x="0" y="0"/>
          <a:ext cx="0" cy="0"/>
          <a:chOff x="0" y="0"/>
          <a:chExt cx="0" cy="0"/>
        </a:xfrm>
      </p:grpSpPr>
      <p:pic>
        <p:nvPicPr>
          <p:cNvPr id="14" name="Imagen 13">
            <a:extLst>
              <a:ext uri="{FF2B5EF4-FFF2-40B4-BE49-F238E27FC236}">
                <a16:creationId xmlns:a16="http://schemas.microsoft.com/office/drawing/2014/main" id="{9868BB93-375F-7D3C-D3D0-23B22CD45FB6}"/>
              </a:ext>
            </a:extLst>
          </p:cNvPr>
          <p:cNvPicPr>
            <a:picLocks noChangeAspect="1"/>
          </p:cNvPicPr>
          <p:nvPr/>
        </p:nvPicPr>
        <p:blipFill>
          <a:blip r:embed="rId2"/>
          <a:stretch>
            <a:fillRect/>
          </a:stretch>
        </p:blipFill>
        <p:spPr>
          <a:xfrm>
            <a:off x="1524000" y="3651166"/>
            <a:ext cx="3951494" cy="2764625"/>
          </a:xfrm>
          <a:prstGeom prst="rect">
            <a:avLst/>
          </a:prstGeom>
        </p:spPr>
      </p:pic>
      <p:pic>
        <p:nvPicPr>
          <p:cNvPr id="11" name="Imagen 10">
            <a:extLst>
              <a:ext uri="{FF2B5EF4-FFF2-40B4-BE49-F238E27FC236}">
                <a16:creationId xmlns:a16="http://schemas.microsoft.com/office/drawing/2014/main" id="{E4A02CDF-CFAB-1EF0-C916-BFE15EA4EA3A}"/>
              </a:ext>
            </a:extLst>
          </p:cNvPr>
          <p:cNvPicPr>
            <a:picLocks noChangeAspect="1"/>
          </p:cNvPicPr>
          <p:nvPr/>
        </p:nvPicPr>
        <p:blipFill>
          <a:blip r:embed="rId3"/>
          <a:stretch>
            <a:fillRect/>
          </a:stretch>
        </p:blipFill>
        <p:spPr>
          <a:xfrm>
            <a:off x="4052352" y="857602"/>
            <a:ext cx="3951498" cy="2764627"/>
          </a:xfrm>
          <a:prstGeom prst="rect">
            <a:avLst/>
          </a:prstGeom>
        </p:spPr>
      </p:pic>
      <p:pic>
        <p:nvPicPr>
          <p:cNvPr id="7" name="Imagen 6">
            <a:extLst>
              <a:ext uri="{FF2B5EF4-FFF2-40B4-BE49-F238E27FC236}">
                <a16:creationId xmlns:a16="http://schemas.microsoft.com/office/drawing/2014/main" id="{40C6EE6F-868F-E59D-C33C-660DE4E8218A}"/>
              </a:ext>
            </a:extLst>
          </p:cNvPr>
          <p:cNvPicPr>
            <a:picLocks noChangeAspect="1"/>
          </p:cNvPicPr>
          <p:nvPr/>
        </p:nvPicPr>
        <p:blipFill>
          <a:blip r:embed="rId4"/>
          <a:stretch>
            <a:fillRect/>
          </a:stretch>
        </p:blipFill>
        <p:spPr>
          <a:xfrm>
            <a:off x="179032" y="860708"/>
            <a:ext cx="3873320" cy="2764626"/>
          </a:xfrm>
          <a:prstGeom prst="rect">
            <a:avLst/>
          </a:prstGeom>
        </p:spPr>
      </p:pic>
      <p:sp>
        <p:nvSpPr>
          <p:cNvPr id="2" name="Título 1">
            <a:extLst>
              <a:ext uri="{FF2B5EF4-FFF2-40B4-BE49-F238E27FC236}">
                <a16:creationId xmlns:a16="http://schemas.microsoft.com/office/drawing/2014/main" id="{76317747-1FF8-A5DB-E422-097E73F888DE}"/>
              </a:ext>
            </a:extLst>
          </p:cNvPr>
          <p:cNvSpPr>
            <a:spLocks noGrp="1"/>
          </p:cNvSpPr>
          <p:nvPr>
            <p:ph type="title"/>
          </p:nvPr>
        </p:nvSpPr>
        <p:spPr/>
        <p:txBody>
          <a:bodyPr/>
          <a:lstStyle/>
          <a:p>
            <a:r>
              <a:rPr lang="es-ES"/>
              <a:t>III.Resultados ejercicio 5. Plots de los diferentes modos</a:t>
            </a:r>
          </a:p>
        </p:txBody>
      </p:sp>
      <p:sp>
        <p:nvSpPr>
          <p:cNvPr id="4" name="Marcador de pie de página 3">
            <a:extLst>
              <a:ext uri="{FF2B5EF4-FFF2-40B4-BE49-F238E27FC236}">
                <a16:creationId xmlns:a16="http://schemas.microsoft.com/office/drawing/2014/main" id="{836CE1B2-2D3C-8350-6722-C01DD1FBAD12}"/>
              </a:ext>
            </a:extLst>
          </p:cNvPr>
          <p:cNvSpPr>
            <a:spLocks noGrp="1"/>
          </p:cNvSpPr>
          <p:nvPr>
            <p:ph type="ftr" sz="quarter" idx="5"/>
          </p:nvPr>
        </p:nvSpPr>
        <p:spPr>
          <a:xfrm>
            <a:off x="609600" y="6457057"/>
            <a:ext cx="2743200" cy="184666"/>
          </a:xfrm>
        </p:spPr>
        <p:txBody>
          <a:bodyPr/>
          <a:lstStyle/>
          <a:p>
            <a:pPr marL="12700">
              <a:spcBef>
                <a:spcPts val="15"/>
              </a:spcBef>
            </a:pPr>
            <a:r>
              <a:rPr lang="es-ES" spc="-5"/>
              <a:t>LAB 2.0. COUPLERS</a:t>
            </a:r>
          </a:p>
        </p:txBody>
      </p:sp>
      <p:sp>
        <p:nvSpPr>
          <p:cNvPr id="5" name="Marcador de número de diapositiva 4">
            <a:extLst>
              <a:ext uri="{FF2B5EF4-FFF2-40B4-BE49-F238E27FC236}">
                <a16:creationId xmlns:a16="http://schemas.microsoft.com/office/drawing/2014/main" id="{AD6BF007-A4F7-F58A-1075-7BDBF276C7AF}"/>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22" name="Título 1">
            <a:extLst>
              <a:ext uri="{FF2B5EF4-FFF2-40B4-BE49-F238E27FC236}">
                <a16:creationId xmlns:a16="http://schemas.microsoft.com/office/drawing/2014/main" id="{D5000335-45DA-3956-F04C-6AE0986C031B}"/>
              </a:ext>
            </a:extLst>
          </p:cNvPr>
          <p:cNvSpPr txBox="1">
            <a:spLocks/>
          </p:cNvSpPr>
          <p:nvPr/>
        </p:nvSpPr>
        <p:spPr>
          <a:xfrm>
            <a:off x="1295400" y="3121223"/>
            <a:ext cx="1371599"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TE0</a:t>
            </a:r>
          </a:p>
        </p:txBody>
      </p:sp>
      <p:sp>
        <p:nvSpPr>
          <p:cNvPr id="23" name="Título 1">
            <a:extLst>
              <a:ext uri="{FF2B5EF4-FFF2-40B4-BE49-F238E27FC236}">
                <a16:creationId xmlns:a16="http://schemas.microsoft.com/office/drawing/2014/main" id="{3492F053-4A2D-5E81-6A50-9C37C40633CE}"/>
              </a:ext>
            </a:extLst>
          </p:cNvPr>
          <p:cNvSpPr txBox="1">
            <a:spLocks/>
          </p:cNvSpPr>
          <p:nvPr/>
        </p:nvSpPr>
        <p:spPr>
          <a:xfrm>
            <a:off x="5167850" y="3121222"/>
            <a:ext cx="1232950" cy="307778"/>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TE1</a:t>
            </a:r>
          </a:p>
        </p:txBody>
      </p:sp>
      <p:sp>
        <p:nvSpPr>
          <p:cNvPr id="24" name="Título 1">
            <a:extLst>
              <a:ext uri="{FF2B5EF4-FFF2-40B4-BE49-F238E27FC236}">
                <a16:creationId xmlns:a16="http://schemas.microsoft.com/office/drawing/2014/main" id="{4D4FA0D9-9E15-E5C9-6169-F776539E50AF}"/>
              </a:ext>
            </a:extLst>
          </p:cNvPr>
          <p:cNvSpPr txBox="1">
            <a:spLocks/>
          </p:cNvSpPr>
          <p:nvPr/>
        </p:nvSpPr>
        <p:spPr>
          <a:xfrm>
            <a:off x="2896106" y="6203287"/>
            <a:ext cx="2971800" cy="307777"/>
          </a:xfrm>
          <a:prstGeom prst="rect">
            <a:avLst/>
          </a:prstGeom>
        </p:spPr>
        <p:txBody>
          <a:bodyPr wrap="square" lIns="0" tIns="0" rIns="0" bIns="0">
            <a:spAutoFit/>
          </a:bodyPr>
          <a:lstStyle>
            <a:lvl1pPr>
              <a:defRPr sz="2000" b="1" i="0">
                <a:solidFill>
                  <a:schemeClr val="tx1"/>
                </a:solidFill>
                <a:latin typeface="Calibri"/>
                <a:ea typeface="+mj-ea"/>
                <a:cs typeface="Calibri"/>
              </a:defRPr>
            </a:lvl1pPr>
          </a:lstStyle>
          <a:p>
            <a:r>
              <a:rPr lang="es-ES" kern="0"/>
              <a:t>Modo TE7</a:t>
            </a:r>
          </a:p>
        </p:txBody>
      </p:sp>
      <p:sp>
        <p:nvSpPr>
          <p:cNvPr id="26" name="Marcador de texto 2">
            <a:extLst>
              <a:ext uri="{FF2B5EF4-FFF2-40B4-BE49-F238E27FC236}">
                <a16:creationId xmlns:a16="http://schemas.microsoft.com/office/drawing/2014/main" id="{1E86082C-C9E9-607F-60B4-09EF3D56019B}"/>
              </a:ext>
            </a:extLst>
          </p:cNvPr>
          <p:cNvSpPr>
            <a:spLocks noGrp="1"/>
          </p:cNvSpPr>
          <p:nvPr>
            <p:ph type="body" idx="1"/>
          </p:nvPr>
        </p:nvSpPr>
        <p:spPr>
          <a:xfrm>
            <a:off x="8061470" y="2239915"/>
            <a:ext cx="3951498" cy="3323987"/>
          </a:xfrm>
        </p:spPr>
        <p:txBody>
          <a:bodyPr wrap="square" lIns="0" tIns="0" rIns="0" bIns="0" anchor="t">
            <a:spAutoFit/>
          </a:bodyPr>
          <a:lstStyle/>
          <a:p>
            <a:pPr algn="just"/>
            <a:r>
              <a:rPr lang="es-ES"/>
              <a:t>Aunque difícilmente apreciable para los modos TE0 y TE1, todos los modos representados tienen discontinuidades más o menos pronunciadas en las paredes laterales indicando que además de ser modos quasi TEM, una pequeña proporción de la onda se está propagando por la cubierta. Esto último se aprecia en mayor medida en el caso del modo TE7 ya que el aumento de orden conlleva una disminución del confinamiento de la luz en el material del núcleo.</a:t>
            </a:r>
          </a:p>
        </p:txBody>
      </p:sp>
    </p:spTree>
    <p:extLst>
      <p:ext uri="{BB962C8B-B14F-4D97-AF65-F5344CB8AC3E}">
        <p14:creationId xmlns:p14="http://schemas.microsoft.com/office/powerpoint/2010/main" val="28728774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 – 6.1 2x2 Multimode Interference Coupler </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569660"/>
          </a:xfrm>
          <a:prstGeom prst="rect">
            <a:avLst/>
          </a:prstGeom>
          <a:solidFill>
            <a:schemeClr val="bg1">
              <a:lumMod val="95000"/>
            </a:schemeClr>
          </a:solidFill>
          <a:ln w="28575">
            <a:solidFill>
              <a:srgbClr val="E0700D"/>
            </a:solidFill>
          </a:ln>
        </p:spPr>
        <p:txBody>
          <a:bodyPr wrap="square" rtlCol="0">
            <a:spAutoFit/>
          </a:bodyPr>
          <a:lstStyle/>
          <a:p>
            <a:pPr algn="just"/>
            <a:r>
              <a:rPr lang="es-ES" sz="1200">
                <a:latin typeface="Arial" panose="020B0604020202020204" pitchFamily="34" charset="0"/>
                <a:cs typeface="Arial" panose="020B0604020202020204" pitchFamily="34" charset="0"/>
              </a:rPr>
              <a:t>El MMI bajo análisis es un MMI de tipo paired, ya que si vemos la definición de las waveguides de entrada y salida, estas siguen la regla de estar situadas en +/- We/6 suponiendo que We = 1 um. </a:t>
            </a:r>
            <a:endParaRPr lang="en-US" sz="1200" u="sng">
              <a:latin typeface="Arial" panose="020B0604020202020204" pitchFamily="34" charset="0"/>
              <a:cs typeface="Arial" panose="020B0604020202020204" pitchFamily="34" charset="0"/>
            </a:endParaRPr>
          </a:p>
          <a:p>
            <a:pPr algn="just"/>
            <a:r>
              <a:rPr lang="en-US" sz="1200" u="sng">
                <a:latin typeface="Arial" panose="020B0604020202020204" pitchFamily="34" charset="0"/>
                <a:cs typeface="Arial" panose="020B0604020202020204" pitchFamily="34" charset="0"/>
              </a:rPr>
              <a:t>Relación de acoplo</a:t>
            </a:r>
            <a:r>
              <a:rPr lang="en-US" sz="1200">
                <a:latin typeface="Arial" panose="020B0604020202020204" pitchFamily="34" charset="0"/>
                <a:cs typeface="Arial" panose="020B0604020202020204" pitchFamily="34" charset="0"/>
              </a:rPr>
              <a:t>: analizando los resultados de “Power over OUTs” se observa que este MMI está actuando como divisor de potencia 50/50 aunque con una pequeña desviación de menos del 2% entre las salidas. Esto es lógico pues se trata de un MMI 2x2 de ancho igual a la mitad de L</a:t>
            </a:r>
            <a:r>
              <a:rPr lang="el-GR" sz="1200">
                <a:latin typeface="Arial" panose="020B0604020202020204" pitchFamily="34" charset="0"/>
                <a:cs typeface="Arial" panose="020B0604020202020204" pitchFamily="34" charset="0"/>
              </a:rPr>
              <a:t>π</a:t>
            </a:r>
            <a:r>
              <a:rPr lang="es-ES" sz="1200">
                <a:latin typeface="Arial" panose="020B0604020202020204" pitchFamily="34" charset="0"/>
                <a:cs typeface="Arial" panose="020B0604020202020204" pitchFamily="34" charset="0"/>
              </a:rPr>
              <a:t> y sabemos que por definición L</a:t>
            </a:r>
            <a:r>
              <a:rPr lang="el-GR" sz="1200">
                <a:latin typeface="Arial" panose="020B0604020202020204" pitchFamily="34" charset="0"/>
                <a:cs typeface="Arial" panose="020B0604020202020204" pitchFamily="34" charset="0"/>
              </a:rPr>
              <a:t>π</a:t>
            </a:r>
            <a:r>
              <a:rPr lang="es-ES" sz="1200">
                <a:latin typeface="Arial" panose="020B0604020202020204" pitchFamily="34" charset="0"/>
                <a:cs typeface="Arial" panose="020B0604020202020204" pitchFamily="34" charset="0"/>
              </a:rPr>
              <a:t> es la distancia a recorrer por la luz en un acoplador para que esta se acople al 100%. </a:t>
            </a:r>
            <a:endParaRPr lang="es-ES" sz="1200" u="sng">
              <a:latin typeface="Arial" panose="020B0604020202020204" pitchFamily="34" charset="0"/>
              <a:cs typeface="Arial" panose="020B0604020202020204" pitchFamily="34" charset="0"/>
            </a:endParaRPr>
          </a:p>
          <a:p>
            <a:pPr algn="just"/>
            <a:r>
              <a:rPr lang="es-ES" sz="1200" u="sng">
                <a:latin typeface="Arial" panose="020B0604020202020204" pitchFamily="34" charset="0"/>
                <a:cs typeface="Arial" panose="020B0604020202020204" pitchFamily="34" charset="0"/>
              </a:rPr>
              <a:t>Pérdidas</a:t>
            </a:r>
            <a:r>
              <a:rPr lang="es-ES" sz="1200">
                <a:latin typeface="Arial" panose="020B0604020202020204" pitchFamily="34" charset="0"/>
                <a:cs typeface="Arial" panose="020B0604020202020204" pitchFamily="34" charset="0"/>
              </a:rPr>
              <a:t>: este MMI tiene una pérdidas “excess loss” de 0.42 dB ya que del total que entra, sale el 90%. </a:t>
            </a:r>
          </a:p>
          <a:p>
            <a:pPr algn="just"/>
            <a:r>
              <a:rPr lang="es-ES" sz="1200" u="sng">
                <a:latin typeface="Arial" panose="020B0604020202020204" pitchFamily="34" charset="0"/>
                <a:cs typeface="Arial" panose="020B0604020202020204" pitchFamily="34" charset="0"/>
              </a:rPr>
              <a:t>Comparación con un D.C</a:t>
            </a:r>
            <a:r>
              <a:rPr lang="es-ES" sz="1200">
                <a:latin typeface="Arial" panose="020B0604020202020204" pitchFamily="34" charset="0"/>
                <a:cs typeface="Arial" panose="020B0604020202020204" pitchFamily="34" charset="0"/>
              </a:rPr>
              <a:t>: este MMI ofrece mayor robustez frente a variaciones en la fabricación y un ancho de banda superior al que ofrecería un acoplador direccional. </a:t>
            </a:r>
            <a:endParaRPr lang="es-ES" sz="1200" u="sng">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18B4CF6F-2653-9630-DFD1-E5392B692D9D}"/>
              </a:ext>
            </a:extLst>
          </p:cNvPr>
          <p:cNvPicPr>
            <a:picLocks noChangeAspect="1"/>
          </p:cNvPicPr>
          <p:nvPr/>
        </p:nvPicPr>
        <p:blipFill>
          <a:blip r:embed="rId4"/>
          <a:srcRect t="25612" b="25611"/>
          <a:stretch>
            <a:fillRect/>
          </a:stretch>
        </p:blipFill>
        <p:spPr>
          <a:xfrm>
            <a:off x="8162517" y="1828800"/>
            <a:ext cx="3292064" cy="218724"/>
          </a:xfrm>
          <a:prstGeom prst="rect">
            <a:avLst/>
          </a:prstGeom>
        </p:spPr>
      </p:pic>
      <p:pic>
        <p:nvPicPr>
          <p:cNvPr id="9" name="Imagen 8">
            <a:extLst>
              <a:ext uri="{FF2B5EF4-FFF2-40B4-BE49-F238E27FC236}">
                <a16:creationId xmlns:a16="http://schemas.microsoft.com/office/drawing/2014/main" id="{D926C2C7-D560-19D4-C36D-5BE71DC4DD17}"/>
              </a:ext>
            </a:extLst>
          </p:cNvPr>
          <p:cNvPicPr>
            <a:picLocks noChangeAspect="1"/>
          </p:cNvPicPr>
          <p:nvPr/>
        </p:nvPicPr>
        <p:blipFill>
          <a:blip r:embed="rId5"/>
          <a:srcRect r="45918" b="50917"/>
          <a:stretch>
            <a:fillRect/>
          </a:stretch>
        </p:blipFill>
        <p:spPr>
          <a:xfrm>
            <a:off x="8296528" y="2220477"/>
            <a:ext cx="3048000" cy="2192253"/>
          </a:xfrm>
          <a:prstGeom prst="rect">
            <a:avLst/>
          </a:prstGeom>
        </p:spPr>
      </p:pic>
      <p:pic>
        <p:nvPicPr>
          <p:cNvPr id="11" name="Imagen 10">
            <a:extLst>
              <a:ext uri="{FF2B5EF4-FFF2-40B4-BE49-F238E27FC236}">
                <a16:creationId xmlns:a16="http://schemas.microsoft.com/office/drawing/2014/main" id="{4E109753-CBDD-E269-48CC-F1BDA6A86E28}"/>
              </a:ext>
            </a:extLst>
          </p:cNvPr>
          <p:cNvPicPr>
            <a:picLocks noChangeAspect="1"/>
          </p:cNvPicPr>
          <p:nvPr/>
        </p:nvPicPr>
        <p:blipFill>
          <a:blip r:embed="rId5"/>
          <a:srcRect l="4490" t="53378" r="1850"/>
          <a:stretch>
            <a:fillRect/>
          </a:stretch>
        </p:blipFill>
        <p:spPr>
          <a:xfrm>
            <a:off x="883032" y="2056233"/>
            <a:ext cx="4939535" cy="1948581"/>
          </a:xfrm>
          <a:prstGeom prst="rect">
            <a:avLst/>
          </a:prstGeom>
        </p:spPr>
      </p:pic>
    </p:spTree>
    <p:extLst>
      <p:ext uri="{BB962C8B-B14F-4D97-AF65-F5344CB8AC3E}">
        <p14:creationId xmlns:p14="http://schemas.microsoft.com/office/powerpoint/2010/main" val="2815679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#6.2 – 2x2 Multimode Interference Coupler - Optimization</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830997"/>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Se ha conseguido un ratio casi perfecto de 50/50 en las salidas modificando iterativamente los valores de MMI length increment (dL_MMI) y la separación entre las guías de onda del MMI (dy), sin embargo no se han podido minimizar las pérdidas con respecto a las obtenidas en el anterior apartado aunque creemos que se debe a un compromiso necesario entre ratio y EL ya que al solo modificar dos parámetros es realmente complicado encontrar un equilibrio. Aún así el valor obtenido no es malo como tal ya que unas pérdidas de exceso de 0.4283 dB implican que el 90% de la potencia que entra al MMI se reparte entre las salidas. </a:t>
            </a: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408C701A-AA39-8761-4D42-EE84680005B8}"/>
              </a:ext>
            </a:extLst>
          </p:cNvPr>
          <p:cNvPicPr>
            <a:picLocks noChangeAspect="1"/>
          </p:cNvPicPr>
          <p:nvPr/>
        </p:nvPicPr>
        <p:blipFill>
          <a:blip r:embed="rId4"/>
          <a:stretch>
            <a:fillRect/>
          </a:stretch>
        </p:blipFill>
        <p:spPr>
          <a:xfrm>
            <a:off x="827801" y="1906574"/>
            <a:ext cx="5381625" cy="2247900"/>
          </a:xfrm>
          <a:prstGeom prst="rect">
            <a:avLst/>
          </a:prstGeom>
        </p:spPr>
      </p:pic>
      <p:pic>
        <p:nvPicPr>
          <p:cNvPr id="9" name="Imagen 8">
            <a:extLst>
              <a:ext uri="{FF2B5EF4-FFF2-40B4-BE49-F238E27FC236}">
                <a16:creationId xmlns:a16="http://schemas.microsoft.com/office/drawing/2014/main" id="{F6D209AE-18BE-7471-71A9-D495E05468B4}"/>
              </a:ext>
            </a:extLst>
          </p:cNvPr>
          <p:cNvPicPr>
            <a:picLocks noChangeAspect="1"/>
          </p:cNvPicPr>
          <p:nvPr/>
        </p:nvPicPr>
        <p:blipFill>
          <a:blip r:embed="rId5"/>
          <a:stretch>
            <a:fillRect/>
          </a:stretch>
        </p:blipFill>
        <p:spPr>
          <a:xfrm>
            <a:off x="7391400" y="1962404"/>
            <a:ext cx="2918713" cy="2248095"/>
          </a:xfrm>
          <a:prstGeom prst="rect">
            <a:avLst/>
          </a:prstGeom>
        </p:spPr>
      </p:pic>
    </p:spTree>
    <p:extLst>
      <p:ext uri="{BB962C8B-B14F-4D97-AF65-F5344CB8AC3E}">
        <p14:creationId xmlns:p14="http://schemas.microsoft.com/office/powerpoint/2010/main" val="26852157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#6.3 – 2x2 Multimode Interference Coupler – Optimization (II)</a:t>
            </a:r>
            <a:br>
              <a:rPr lang="en-US" sz="2500"/>
            </a:br>
            <a:r>
              <a:rPr lang="en-US" b="0"/>
              <a:t>Wavelength 1.55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Tal y como puede observarse en las figuras, modificando reiteradamente el valor de “IO wg width increment” mediante la variable wg_width_dw del script de python, y corrigiendo el valor de la variación en la longitude del MMI mediante la variable “dL_MMI”, se ha conseguido obtener un balance perfecto 50/50 y unas pérdidas menores a 0.1 dB. </a:t>
            </a:r>
          </a:p>
          <a:p>
            <a:pPr algn="just"/>
            <a:r>
              <a:rPr lang="en-US" sz="1200">
                <a:latin typeface="Arial" panose="020B0604020202020204" pitchFamily="34" charset="0"/>
                <a:cs typeface="Arial" panose="020B0604020202020204" pitchFamily="34" charset="0"/>
              </a:rPr>
              <a:t>Podemos afirmar que el ancho de las guías de onda afecta directamente a la cantidad de luz que indice en estas por lo que para disminuir las pérdidas hemos aumentado este valor. Por otro lado, debido a la pérdida del balance, hemos aumentado el tamaño del MMI ligeramente ya que existía una descompensación hacia la salida directa, entonces aumentando la longitud del MMI nos acercamos más al resultado que se obtendría según la teoría de una L_MMI = L_pi/2 para un acoplo del 50%.</a:t>
            </a: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DFADF14-3DDB-32CA-59C2-E156DDBDBFB6}"/>
              </a:ext>
            </a:extLst>
          </p:cNvPr>
          <p:cNvPicPr>
            <a:picLocks noChangeAspect="1"/>
          </p:cNvPicPr>
          <p:nvPr/>
        </p:nvPicPr>
        <p:blipFill>
          <a:blip r:embed="rId4"/>
          <a:stretch>
            <a:fillRect/>
          </a:stretch>
        </p:blipFill>
        <p:spPr>
          <a:xfrm>
            <a:off x="707985" y="1925624"/>
            <a:ext cx="5381625" cy="2209800"/>
          </a:xfrm>
          <a:prstGeom prst="rect">
            <a:avLst/>
          </a:prstGeom>
        </p:spPr>
      </p:pic>
      <p:pic>
        <p:nvPicPr>
          <p:cNvPr id="9" name="Imagen 8">
            <a:extLst>
              <a:ext uri="{FF2B5EF4-FFF2-40B4-BE49-F238E27FC236}">
                <a16:creationId xmlns:a16="http://schemas.microsoft.com/office/drawing/2014/main" id="{991945E2-3C53-D70F-2E83-4CC1FF70F3D7}"/>
              </a:ext>
            </a:extLst>
          </p:cNvPr>
          <p:cNvPicPr>
            <a:picLocks noChangeAspect="1"/>
          </p:cNvPicPr>
          <p:nvPr/>
        </p:nvPicPr>
        <p:blipFill>
          <a:blip r:embed="rId5"/>
          <a:stretch>
            <a:fillRect/>
          </a:stretch>
        </p:blipFill>
        <p:spPr>
          <a:xfrm>
            <a:off x="7654146" y="1883614"/>
            <a:ext cx="3314987" cy="2293819"/>
          </a:xfrm>
          <a:prstGeom prst="rect">
            <a:avLst/>
          </a:prstGeom>
        </p:spPr>
      </p:pic>
    </p:spTree>
    <p:extLst>
      <p:ext uri="{BB962C8B-B14F-4D97-AF65-F5344CB8AC3E}">
        <p14:creationId xmlns:p14="http://schemas.microsoft.com/office/powerpoint/2010/main" val="1023731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Learning outcome #7 – 1x4 Multimode Interference Coupler </a:t>
            </a:r>
            <a:br>
              <a:rPr lang="en-US" sz="2500"/>
            </a:br>
            <a:r>
              <a:rPr lang="en-US" b="0"/>
              <a:t>Wavelength 1.55 µm, </a:t>
            </a:r>
            <a:r>
              <a:rPr lang="en-US" b="0" err="1"/>
              <a:t>wMMI</a:t>
            </a:r>
            <a:r>
              <a:rPr lang="en-US" b="0"/>
              <a:t> = ? µm</a:t>
            </a:r>
            <a:endParaRPr lang="en-US" sz="2500" b="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De forma similar a como se diseñó el MMI 2x2 pero esta vez siguiendo la filosofía de una MMI simétrico visto en teoría, se ha diseñado este MMI de 1x4 que idealmente pretende dividir una señal de entrada en 4 partes iguales (25/25/25/25). Mediante la modificación iterativa de algunos de los parámetros configurables tales como la longitude del MMI, la posición de las guías de onda y el ancho de estas, se ha conseguido un muy buen resultado. Destaca que el balance es casi perfecto y las pérdidas de exceso no son muy altas ya que el 88% de la señal que entra, consigue atravesar el interferómetro multimodo. </a:t>
            </a:r>
          </a:p>
          <a:p>
            <a:pPr algn="just"/>
            <a:endParaRPr lang="en-US" sz="120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C1F04ACE-2FA8-2CA9-A7F5-FCC8F65BC661}"/>
              </a:ext>
            </a:extLst>
          </p:cNvPr>
          <p:cNvPicPr>
            <a:picLocks noChangeAspect="1"/>
          </p:cNvPicPr>
          <p:nvPr/>
        </p:nvPicPr>
        <p:blipFill>
          <a:blip r:embed="rId4"/>
          <a:stretch>
            <a:fillRect/>
          </a:stretch>
        </p:blipFill>
        <p:spPr>
          <a:xfrm>
            <a:off x="7011736" y="1917907"/>
            <a:ext cx="4442845" cy="2225233"/>
          </a:xfrm>
          <a:prstGeom prst="rect">
            <a:avLst/>
          </a:prstGeom>
        </p:spPr>
      </p:pic>
      <p:pic>
        <p:nvPicPr>
          <p:cNvPr id="11" name="Imagen 10">
            <a:extLst>
              <a:ext uri="{FF2B5EF4-FFF2-40B4-BE49-F238E27FC236}">
                <a16:creationId xmlns:a16="http://schemas.microsoft.com/office/drawing/2014/main" id="{1E24424C-DAA4-090D-A170-A9B8789E08DD}"/>
              </a:ext>
            </a:extLst>
          </p:cNvPr>
          <p:cNvPicPr>
            <a:picLocks noChangeAspect="1"/>
          </p:cNvPicPr>
          <p:nvPr/>
        </p:nvPicPr>
        <p:blipFill>
          <a:blip r:embed="rId5"/>
          <a:stretch>
            <a:fillRect/>
          </a:stretch>
        </p:blipFill>
        <p:spPr>
          <a:xfrm>
            <a:off x="914400" y="1825610"/>
            <a:ext cx="5467350" cy="2409825"/>
          </a:xfrm>
          <a:prstGeom prst="rect">
            <a:avLst/>
          </a:prstGeom>
        </p:spPr>
      </p:pic>
    </p:spTree>
    <p:extLst>
      <p:ext uri="{BB962C8B-B14F-4D97-AF65-F5344CB8AC3E}">
        <p14:creationId xmlns:p14="http://schemas.microsoft.com/office/powerpoint/2010/main" val="699864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a:t>Extra #1 – Directional coupler gap dependence</a:t>
            </a:r>
            <a:br>
              <a:rPr lang="en-US" sz="2500"/>
            </a:br>
            <a:r>
              <a:rPr lang="en-US" b="0"/>
              <a:t>Wavelength 1.55 µm, width 1.0 µm, </a:t>
            </a:r>
            <a:r>
              <a:rPr lang="en-US"/>
              <a:t>gap 0.2-2.4 µm </a:t>
            </a:r>
            <a:r>
              <a:rPr lang="en-US" b="0"/>
              <a:t>(step 0.2 µm)</a:t>
            </a: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Make conclusions and observations from your results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n-U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a:t>Extra #2 – Directional wavelength dependence</a:t>
            </a:r>
            <a:br>
              <a:rPr lang="en-US" sz="2500"/>
            </a:br>
            <a:r>
              <a:rPr lang="en-US" b="0"/>
              <a:t>Wavelengths </a:t>
            </a:r>
            <a:r>
              <a:rPr lang="en-US"/>
              <a:t>from 1.5 to 1.7 µm</a:t>
            </a:r>
            <a:r>
              <a:rPr lang="en-US" b="0"/>
              <a:t>, gap = 0.6 µm, width 1.0 µm</a:t>
            </a:r>
            <a:br>
              <a:rPr lang="en-US" b="0"/>
            </a:br>
            <a:br>
              <a:rPr lang="es-ES" sz="2500" spc="-5">
                <a:latin typeface="+mj-lt"/>
                <a:cs typeface="Lucida Sans"/>
              </a:rPr>
            </a:br>
            <a:endParaRPr sz="2500" b="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n-U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#3 – MMI coupler wavelength dependence</a:t>
            </a:r>
            <a:br>
              <a:rPr lang="en-US" sz="2500" spc="-5">
                <a:latin typeface="+mj-lt"/>
                <a:cs typeface="Lucida Sans"/>
              </a:rPr>
            </a:br>
            <a:r>
              <a:rPr lang="en-US" b="0"/>
              <a:t>Wavelengths from 1.5 to 1.7 µm, </a:t>
            </a:r>
            <a:r>
              <a:rPr lang="en-US" b="0" err="1"/>
              <a:t>wMMI</a:t>
            </a:r>
            <a:r>
              <a:rPr lang="en-US" b="0"/>
              <a:t> = 6.6 µm</a:t>
            </a:r>
            <a:endParaRPr lang="en-US" sz="2500" b="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Comment results (Important. Compare with Directional Coupler)</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a:t>
                </a:r>
                <a:r>
                  <a:rPr lang="en-US" err="1"/>
                  <a:t>wvl</a:t>
                </a:r>
                <a:r>
                  <a:rPr lang="en-US"/>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n-U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a:t>Extra #4 – MMI coupler body width dependence</a:t>
            </a:r>
            <a:br>
              <a:rPr lang="en-US" sz="2500" spc="-5">
                <a:latin typeface="+mj-lt"/>
                <a:cs typeface="Lucida Sans"/>
              </a:rPr>
            </a:br>
            <a:r>
              <a:rPr lang="en-US" b="0"/>
              <a:t>Wavelength 1.55 µm, </a:t>
            </a:r>
            <a:r>
              <a:rPr lang="en-US" b="0" err="1"/>
              <a:t>wMMI</a:t>
            </a:r>
            <a:r>
              <a:rPr lang="en-US" b="0"/>
              <a:t> = 5-10 µm (steps 0.5 µm)</a:t>
            </a:r>
            <a:endParaRPr lang="en-US" sz="2500" b="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a:p>
            <a:pPr algn="just"/>
            <a:endParaRPr lang="en-US" sz="120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a:t>slab = 150nm</a:t>
            </a:r>
            <a:endParaRPr lang="es-E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a:t>deep</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4"/>
                <a:stretch>
                  <a:fillRect t="-3289"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a:t>shallow</a:t>
                </a:r>
                <a:r>
                  <a:rPr lang="en-US"/>
                  <a:t> waveguide</a:t>
                </a:r>
              </a:p>
              <a:p>
                <a:pPr algn="ctr"/>
                <a:endParaRPr lang="en-US"/>
              </a:p>
              <a:p>
                <a:pPr algn="ctr"/>
                <a:r>
                  <a:rPr lang="en-US"/>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5"/>
                <a:stretch>
                  <a:fillRect t="-3289" b="-9211"/>
                </a:stretch>
              </a:blipFill>
            </p:spPr>
            <p:txBody>
              <a:bodyPr/>
              <a:lstStyle/>
              <a:p>
                <a:r>
                  <a:rPr lang="en-U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a:solidFill>
                  <a:srgbClr val="FFFFFF"/>
                </a:solidFill>
                <a:latin typeface="Lucida Sans"/>
                <a:cs typeface="Lucida Sans"/>
              </a:rPr>
              <a:t>Thank</a:t>
            </a:r>
            <a:r>
              <a:rPr sz="3200" b="1" spc="-55">
                <a:solidFill>
                  <a:srgbClr val="FFFFFF"/>
                </a:solidFill>
                <a:latin typeface="Lucida Sans"/>
                <a:cs typeface="Lucida Sans"/>
              </a:rPr>
              <a:t> </a:t>
            </a:r>
            <a:r>
              <a:rPr sz="3200" b="1">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23</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3E1E002B17413842B52C919604DA6A27" ma:contentTypeVersion="16" ma:contentTypeDescription="Crear nuevo documento." ma:contentTypeScope="" ma:versionID="077c8d2723de2adc1ae62760c135add4">
  <xsd:schema xmlns:xsd="http://www.w3.org/2001/XMLSchema" xmlns:xs="http://www.w3.org/2001/XMLSchema" xmlns:p="http://schemas.microsoft.com/office/2006/metadata/properties" xmlns:ns3="687df890-2601-448c-be3c-56e27ed810cd" xmlns:ns4="3b26aeef-a858-43c9-b8af-7466d1d07be8" targetNamespace="http://schemas.microsoft.com/office/2006/metadata/properties" ma:root="true" ma:fieldsID="a2fd45725851bacaa0017dec0f16d66b" ns3:_="" ns4:_="">
    <xsd:import namespace="687df890-2601-448c-be3c-56e27ed810cd"/>
    <xsd:import namespace="3b26aeef-a858-43c9-b8af-7466d1d07be8"/>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SearchProperties"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7df890-2601-448c-be3c-56e27ed810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b26aeef-a858-43c9-b8af-7466d1d07be8" elementFormDefault="qualified">
    <xsd:import namespace="http://schemas.microsoft.com/office/2006/documentManagement/types"/>
    <xsd:import namespace="http://schemas.microsoft.com/office/infopath/2007/PartnerControls"/>
    <xsd:element name="SharedWithUsers" ma:index="12"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talles de uso compartido" ma:internalName="SharedWithDetails" ma:readOnly="true">
      <xsd:simpleType>
        <xsd:restriction base="dms:Note">
          <xsd:maxLength value="255"/>
        </xsd:restriction>
      </xsd:simpleType>
    </xsd:element>
    <xsd:element name="SharingHintHash" ma:index="14" nillable="true" ma:displayName="Hash de la sugerencia para comparti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687df890-2601-448c-be3c-56e27ed810c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D5E3EB-4542-40B2-8AA7-D61C63CEC43B}">
  <ds:schemaRefs>
    <ds:schemaRef ds:uri="3b26aeef-a858-43c9-b8af-7466d1d07be8"/>
    <ds:schemaRef ds:uri="687df890-2601-448c-be3c-56e27ed810c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17EBD8E-B1BC-4B58-BA28-86722919E158}">
  <ds:schemaRefs>
    <ds:schemaRef ds:uri="687df890-2601-448c-be3c-56e27ed810cd"/>
    <ds:schemaRef ds:uri="3b26aeef-a858-43c9-b8af-7466d1d07be8"/>
    <ds:schemaRef ds:uri="http://www.w3.org/XML/1998/namespace"/>
    <ds:schemaRef ds:uri="http://purl.org/dc/dcmitype/"/>
    <ds:schemaRef ds:uri="http://schemas.microsoft.com/office/infopath/2007/PartnerControls"/>
    <ds:schemaRef ds:uri="http://schemas.openxmlformats.org/package/2006/metadata/core-properties"/>
    <ds:schemaRef ds:uri="http://schemas.microsoft.com/office/2006/documentManagement/types"/>
    <ds:schemaRef ds:uri="http://schemas.microsoft.com/office/2006/metadata/properties"/>
    <ds:schemaRef ds:uri="http://purl.org/dc/terms/"/>
    <ds:schemaRef ds:uri="http://purl.org/dc/elements/1.1/"/>
  </ds:schemaRefs>
</ds:datastoreItem>
</file>

<file path=customXml/itemProps3.xml><?xml version="1.0" encoding="utf-8"?>
<ds:datastoreItem xmlns:ds="http://schemas.openxmlformats.org/officeDocument/2006/customXml" ds:itemID="{08CF5797-2B56-429E-BE3F-449366DEDD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2675</Words>
  <Application>Microsoft Office PowerPoint</Application>
  <PresentationFormat>Panorámica</PresentationFormat>
  <Paragraphs>251</Paragraphs>
  <Slides>23</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23</vt:i4>
      </vt:variant>
    </vt:vector>
  </HeadingPairs>
  <TitlesOfParts>
    <vt:vector size="31" baseType="lpstr">
      <vt:lpstr>Aptos</vt:lpstr>
      <vt:lpstr>Arial</vt:lpstr>
      <vt:lpstr>Calibri</vt:lpstr>
      <vt:lpstr>Cambria Math</vt:lpstr>
      <vt:lpstr>Lucida Sans</vt:lpstr>
      <vt:lpstr>Times New Roman</vt:lpstr>
      <vt:lpstr>Wingdings</vt:lpstr>
      <vt:lpstr>Office Theme</vt:lpstr>
      <vt:lpstr>Presentación de PowerPoint</vt:lpstr>
      <vt:lpstr>Instructions General</vt:lpstr>
      <vt:lpstr>Presentación de PowerPoint</vt:lpstr>
      <vt:lpstr>Learning outcome #1 – Directional coupler cross-section in GDSFactory </vt:lpstr>
      <vt:lpstr>I. Resultados ejercicio 1</vt:lpstr>
      <vt:lpstr>II.Resultados ejercicio 1. Plots de los diferentes modos</vt:lpstr>
      <vt:lpstr>Learning outcome #2 – Directional coupler length and coupling coefficient Wavelength 1.5 µm – width 1.2 µm – gap 0.6 µm – thickness 300 nm</vt:lpstr>
      <vt:lpstr>Learning outcome #3 – 2x2 Directional Coupler Wavelength 1.55 µm – Sweep gaps between 0.2 and 1.2 µm in steps of 0.2 µm</vt:lpstr>
      <vt:lpstr>Learning outcome #4 – Parallel uncoupled waveguides – TE0 mode Wavelength 1.55 µm, width 1.0 µm, gap to be found for uncoupled wvgs</vt:lpstr>
      <vt:lpstr>Presentación de PowerPoint</vt:lpstr>
      <vt:lpstr>Learning outcome #5 – Multimode Interference (MMI) Coupler cross-section</vt:lpstr>
      <vt:lpstr>I. Resultados ejercicio 5</vt:lpstr>
      <vt:lpstr>II. Resultados ejercicio 5</vt:lpstr>
      <vt:lpstr>III.Resultados ejercicio 5. Plots de los diferentes modos</vt:lpstr>
      <vt:lpstr>Learning outcome #6 – 6.1 2x2 Multimode Interference Coupler  Wavelength 1.55 µm, wMMI = 6.6 µm</vt:lpstr>
      <vt:lpstr>Learning outcome #6.2 – 2x2 Multimode Interference Coupler - Optimization Wavelength 1.55 µm, wMMI = 6.6 µm</vt:lpstr>
      <vt:lpstr>Learning outcome #6.3 – 2x2 Multimode Interference Coupler – Optimization (II) Wavelength 1.55 µm, wMMI = 6.6 µm</vt:lpstr>
      <vt:lpstr>Learning outcome #7 – 1x4 Multimode Interference Coupler  Wavelength 1.55 µm, wMMI = ? µm</vt:lpstr>
      <vt:lpstr>Extra #1 – Directional coupler gap dependence Wavelength 1.55 µm, width 1.0 µm, gap 0.2-2.4 µm (step 0.2 µm) </vt:lpstr>
      <vt:lpstr>Extra #2 – Directional wavelength dependence Wavelengths from 1.5 to 1.7 µm, gap = 0.6 µm, width 1.0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Angel Gonzalez de Amo</cp:lastModifiedBy>
  <cp:revision>1</cp:revision>
  <dcterms:created xsi:type="dcterms:W3CDTF">2025-01-27T02:46:57Z</dcterms:created>
  <dcterms:modified xsi:type="dcterms:W3CDTF">2026-05-03T21:06:24Z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y fmtid="{D5CDD505-2E9C-101B-9397-08002B2CF9AE}" pid="5" name="ContentTypeId">
    <vt:lpwstr>0x0101003E1E002B17413842B52C919604DA6A27</vt:lpwstr>
  </property>
</Properties>
</file>